
<file path=[Content_Types].xml><?xml version="1.0" encoding="utf-8"?>
<Types xmlns="http://schemas.openxmlformats.org/package/2006/content-types">
  <Default Extension="jpeg" ContentType="image/jpeg"/>
  <Default Extension="org&amp;utm_campaign=index&amp;utm_content=original" ContentType="image/png"/>
  <Default Extension="org&amp;utm_campaign=index&amp;utm_content=thumbnai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43891200" cy="32918400"/>
  <p:notesSz cx="6858000" cy="9144000"/>
  <p:defaultTextStyle>
    <a:defPPr>
      <a:buNone/>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30"/>
  </p:normalViewPr>
  <p:slideViewPr>
    <p:cSldViewPr snapToGrid="0">
      <p:cViewPr>
        <p:scale>
          <a:sx n="40" d="100"/>
          <a:sy n="40" d="100"/>
        </p:scale>
        <p:origin x="14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Research focus: generative models, inverse problems, and scientific data/model fusion.</a:t>
            </a:r>
          </a:p>
          <a:p>
            <a:r>
              <a:t>Sources used in the poster:</a:t>
            </a:r>
          </a:p>
          <a:p>
            <a:r>
              <a:t>https://arxiv.org/abs/2603.12635 (turbulent-flow diffusion posterior sampling; source figure: single_vs_multi.png)</a:t>
            </a:r>
          </a:p>
          <a:p>
            <a:r>
              <a:t>https://arxiv.org/abs/2608.05103 (latent video flow-matching atmospheric assimilation; source figures: schematic_new.pdf, sr_fields.png, igra_fields.png)</a:t>
            </a:r>
          </a:p>
          <a:p>
            <a:r>
              <a:t>https://arxiv.org/abs/2602.13416 (diffusion-based climate downscaling and LUCIE; reviewed as supporting context)</a:t>
            </a:r>
          </a:p>
          <a:p>
            <a:r>
              <a:t>https://arxiv.org/abs/2609.29027 (heterogeneous atmospheric observation interfaces; source figure: figure2_observation_geometry_annual_polished.pdf)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9115481A-128A-48A4-8923-BEA04A09441D}"/>
              </a:ext>
            </a:extLst>
          </p:cNvPr>
          <p:cNvSpPr>
            <a:spLocks noGrp="1"/>
          </p:cNvSpPr>
          <p:nvPr>
            <p:ph type="ctrTitle"/>
          </p:nvPr>
        </p:nvSpPr>
        <p:spPr>
          <a:xfrm>
            <a:off x="3291839" y="10204703"/>
            <a:ext cx="37307523" cy="2456826"/>
          </a:xfrm>
          <a:prstGeom prst="rect">
            <a:avLst/>
          </a:prstGeom>
        </p:spPr>
        <p:txBody>
          <a:bodyPr wrap="square" lIns="0" tIns="0" rIns="0" bIns="0">
            <a:spAutoFit/>
          </a:bodyPr>
          <a:lstStyle>
            <a:lvl1pPr>
              <a:buNone/>
              <a:defRPr sz="15965" b="1" i="0">
                <a:solidFill>
                  <a:schemeClr val="bg1"/>
                </a:solidFill>
                <a:latin typeface="Impact"/>
                <a:ea typeface="Impact"/>
                <a:cs typeface="Impact"/>
              </a:defRPr>
            </a:lvl1pPr>
          </a:lstStyle>
          <a:p>
            <a:r>
              <a:t>Click to edit Master title style</a:t>
            </a:r>
          </a:p>
        </p:txBody>
      </p:sp>
      <p:sp>
        <p:nvSpPr>
          <p:cNvPr id="3" name="Holder 3">
            <a:extLst>
              <a:ext uri="{FF2B5EF4-FFF2-40B4-BE49-F238E27FC236}">
                <a16:creationId xmlns:a16="http://schemas.microsoft.com/office/drawing/2014/main" id="{00D7888E-2E3F-48C6-8006-A2E3AA9A31A2}"/>
              </a:ext>
            </a:extLst>
          </p:cNvPr>
          <p:cNvSpPr>
            <a:spLocks noGrp="1"/>
          </p:cNvSpPr>
          <p:nvPr>
            <p:ph type="subTitle" idx="4"/>
          </p:nvPr>
        </p:nvSpPr>
        <p:spPr>
          <a:xfrm>
            <a:off x="6583680" y="18434306"/>
            <a:ext cx="30723840" cy="276999"/>
          </a:xfrm>
          <a:prstGeom prst="rect">
            <a:avLst/>
          </a:prstGeom>
        </p:spPr>
        <p:txBody>
          <a:bodyPr wrap="square" lIns="0" tIns="0" rIns="0" bIns="0">
            <a:spAutoFit/>
          </a:bodyPr>
          <a:lstStyle>
            <a:lvl1pPr>
              <a:buNone/>
              <a:defRPr/>
            </a:lvl1pPr>
          </a:lstStyle>
          <a:p>
            <a:r>
              <a:t>Click to edit Master subtitle style</a:t>
            </a:r>
          </a:p>
        </p:txBody>
      </p:sp>
      <p:sp>
        <p:nvSpPr>
          <p:cNvPr id="4" name="Holder 4">
            <a:extLst>
              <a:ext uri="{FF2B5EF4-FFF2-40B4-BE49-F238E27FC236}">
                <a16:creationId xmlns:a16="http://schemas.microsoft.com/office/drawing/2014/main" id="{D1F20957-1EDB-497D-ADAF-3CAC30C3B013}"/>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F01493C5-6584-4A24-8E78-B373D2EF0D00}"/>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10/17/26</a:t>
            </a:fld>
            <a:endParaRPr/>
          </a:p>
        </p:txBody>
      </p:sp>
      <p:sp>
        <p:nvSpPr>
          <p:cNvPr id="6" name="Holder 6">
            <a:extLst>
              <a:ext uri="{FF2B5EF4-FFF2-40B4-BE49-F238E27FC236}">
                <a16:creationId xmlns:a16="http://schemas.microsoft.com/office/drawing/2014/main" id="{B6E372A2-D9A9-42D5-93F0-1E4897C5F027}"/>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05760037-0D03-44AB-9823-3F508EFAFEBA}"/>
              </a:ext>
            </a:extLst>
          </p:cNvPr>
          <p:cNvSpPr>
            <a:spLocks noGrp="1"/>
          </p:cNvSpPr>
          <p:nvPr>
            <p:ph type="title"/>
          </p:nvPr>
        </p:nvSpPr>
        <p:spPr>
          <a:xfrm>
            <a:off x="1174537" y="7652511"/>
            <a:ext cx="8692288" cy="9827306"/>
          </a:xfrm>
        </p:spPr>
        <p:txBody>
          <a:bodyPr lIns="0" tIns="0" rIns="0" bIns="0"/>
          <a:lstStyle>
            <a:lvl1pPr>
              <a:buNone/>
              <a:defRPr sz="15965" b="1" i="0">
                <a:solidFill>
                  <a:schemeClr val="bg1"/>
                </a:solidFill>
                <a:latin typeface="Impact"/>
                <a:ea typeface="Impact"/>
                <a:cs typeface="Impact"/>
              </a:defRPr>
            </a:lvl1pPr>
          </a:lstStyle>
          <a:p>
            <a:r>
              <a:t>Click to edit Master title style</a:t>
            </a:r>
          </a:p>
        </p:txBody>
      </p:sp>
      <p:sp>
        <p:nvSpPr>
          <p:cNvPr id="3" name="Holder 3">
            <a:extLst>
              <a:ext uri="{FF2B5EF4-FFF2-40B4-BE49-F238E27FC236}">
                <a16:creationId xmlns:a16="http://schemas.microsoft.com/office/drawing/2014/main" id="{2C6E3146-53EE-4702-B28B-D1B732333FB1}"/>
              </a:ext>
            </a:extLst>
          </p:cNvPr>
          <p:cNvSpPr>
            <a:spLocks noGrp="1"/>
          </p:cNvSpPr>
          <p:nvPr>
            <p:ph type="body" idx="1"/>
          </p:nvPr>
        </p:nvSpPr>
        <p:spPr/>
        <p:txBody>
          <a:bodyPr lIns="0" tIns="0" rIns="0" bIns="0"/>
          <a:lstStyle>
            <a:lvl1pPr>
              <a:buNone/>
              <a:defRPr/>
            </a:lvl1pPr>
          </a:lstStyle>
          <a:p>
            <a:pPr lvl="0">
              <a:buNone/>
            </a:pPr>
            <a:r>
              <a:t>Click to edit Master text styles</a:t>
            </a:r>
          </a:p>
        </p:txBody>
      </p:sp>
      <p:sp>
        <p:nvSpPr>
          <p:cNvPr id="4" name="Holder 4">
            <a:extLst>
              <a:ext uri="{FF2B5EF4-FFF2-40B4-BE49-F238E27FC236}">
                <a16:creationId xmlns:a16="http://schemas.microsoft.com/office/drawing/2014/main" id="{3C543F8C-2821-4DF8-84F1-4CBA2C8A704F}"/>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71903A2B-60DB-42D6-BEC2-C22823D16A24}"/>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10/17/26</a:t>
            </a:fld>
            <a:endParaRPr/>
          </a:p>
        </p:txBody>
      </p:sp>
      <p:sp>
        <p:nvSpPr>
          <p:cNvPr id="6" name="Holder 6">
            <a:extLst>
              <a:ext uri="{FF2B5EF4-FFF2-40B4-BE49-F238E27FC236}">
                <a16:creationId xmlns:a16="http://schemas.microsoft.com/office/drawing/2014/main" id="{E1B5586D-398C-4147-9BE3-00420F64E9C5}"/>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2A82BCDE-1DBA-1029-6BF3-3D29A9D2EC60}"/>
              </a:ext>
            </a:extLst>
          </p:cNvPr>
          <p:cNvSpPr>
            <a:spLocks noGrp="1"/>
          </p:cNvSpPr>
          <p:nvPr>
            <p:ph type="pic" idx="10"/>
          </p:nvPr>
        </p:nvSpPr>
        <p:spPr>
          <a:xfrm>
            <a:off x="11813118" y="3652838"/>
            <a:ext cx="9675283" cy="276999"/>
          </a:xfrm>
        </p:spPr>
        <p:txBody>
          <a:bodyPr/>
          <a:lstStyle/>
          <a:p>
            <a:r>
              <a:t>Click icon to add picture</a:t>
            </a:r>
          </a:p>
        </p:txBody>
      </p:sp>
      <p:sp>
        <p:nvSpPr>
          <p:cNvPr id="17" name="Picture Placeholder 16">
            <a:extLst>
              <a:ext uri="{FF2B5EF4-FFF2-40B4-BE49-F238E27FC236}">
                <a16:creationId xmlns:a16="http://schemas.microsoft.com/office/drawing/2014/main" id="{75713837-A11C-D121-DCC5-DAFE90165418}"/>
              </a:ext>
            </a:extLst>
          </p:cNvPr>
          <p:cNvSpPr>
            <a:spLocks noGrp="1"/>
          </p:cNvSpPr>
          <p:nvPr>
            <p:ph type="pic" idx="11"/>
          </p:nvPr>
        </p:nvSpPr>
        <p:spPr>
          <a:xfrm>
            <a:off x="21630723" y="11527288"/>
            <a:ext cx="12929616" cy="276999"/>
          </a:xfrm>
        </p:spPr>
        <p:txBody>
          <a:bodyPr/>
          <a:lstStyle/>
          <a:p>
            <a:r>
              <a:t>Click icon to add picture</a:t>
            </a:r>
          </a:p>
        </p:txBody>
      </p:sp>
      <p:sp>
        <p:nvSpPr>
          <p:cNvPr id="19" name="Picture Placeholder 18">
            <a:extLst>
              <a:ext uri="{FF2B5EF4-FFF2-40B4-BE49-F238E27FC236}">
                <a16:creationId xmlns:a16="http://schemas.microsoft.com/office/drawing/2014/main" id="{49669121-0975-3E30-472A-F3E8A3356A09}"/>
              </a:ext>
            </a:extLst>
          </p:cNvPr>
          <p:cNvSpPr>
            <a:spLocks noGrp="1"/>
          </p:cNvSpPr>
          <p:nvPr>
            <p:ph type="pic" idx="12"/>
          </p:nvPr>
        </p:nvSpPr>
        <p:spPr>
          <a:xfrm>
            <a:off x="32992484" y="3612358"/>
            <a:ext cx="9677400" cy="276999"/>
          </a:xfrm>
        </p:spPr>
        <p:txBody>
          <a:bodyPr/>
          <a:lstStyle/>
          <a:p>
            <a:r>
              <a:t>Click icon to add picture</a:t>
            </a:r>
          </a:p>
        </p:txBody>
      </p:sp>
      <p:sp>
        <p:nvSpPr>
          <p:cNvPr id="23" name="Picture Placeholder 22">
            <a:extLst>
              <a:ext uri="{FF2B5EF4-FFF2-40B4-BE49-F238E27FC236}">
                <a16:creationId xmlns:a16="http://schemas.microsoft.com/office/drawing/2014/main" id="{4021F5E4-159F-DAD4-DC14-9A04BF18913A}"/>
              </a:ext>
            </a:extLst>
          </p:cNvPr>
          <p:cNvSpPr>
            <a:spLocks noGrp="1"/>
          </p:cNvSpPr>
          <p:nvPr>
            <p:ph type="pic" idx="14"/>
          </p:nvPr>
        </p:nvSpPr>
        <p:spPr>
          <a:xfrm>
            <a:off x="11813118" y="25417464"/>
            <a:ext cx="9675283" cy="276999"/>
          </a:xfrm>
        </p:spPr>
        <p:txBody>
          <a:bodyPr/>
          <a:lstStyle/>
          <a:p>
            <a:r>
              <a:t>Click icon to add picture</a:t>
            </a:r>
          </a:p>
        </p:txBody>
      </p:sp>
      <p:sp>
        <p:nvSpPr>
          <p:cNvPr id="2" name="Holder 2">
            <a:extLst>
              <a:ext uri="{FF2B5EF4-FFF2-40B4-BE49-F238E27FC236}">
                <a16:creationId xmlns:a16="http://schemas.microsoft.com/office/drawing/2014/main" id="{DD77305C-E569-4CCC-B0ED-4AB52CD4F6D6}"/>
              </a:ext>
            </a:extLst>
          </p:cNvPr>
          <p:cNvSpPr>
            <a:spLocks noGrp="1"/>
          </p:cNvSpPr>
          <p:nvPr>
            <p:ph type="title"/>
          </p:nvPr>
        </p:nvSpPr>
        <p:spPr>
          <a:xfrm>
            <a:off x="1174537" y="7652511"/>
            <a:ext cx="8692288" cy="9827306"/>
          </a:xfrm>
        </p:spPr>
        <p:txBody>
          <a:bodyPr lIns="0" tIns="0" rIns="0" bIns="0"/>
          <a:lstStyle>
            <a:lvl1pPr>
              <a:buNone/>
              <a:defRPr sz="15965" b="1" i="0">
                <a:solidFill>
                  <a:schemeClr val="bg1"/>
                </a:solidFill>
                <a:latin typeface="Impact"/>
                <a:ea typeface="Impact"/>
                <a:cs typeface="Impact"/>
              </a:defRPr>
            </a:lvl1pPr>
          </a:lstStyle>
          <a:p>
            <a:r>
              <a:t>Click to edit Master title style</a:t>
            </a:r>
          </a:p>
        </p:txBody>
      </p:sp>
      <p:sp>
        <p:nvSpPr>
          <p:cNvPr id="3" name="Holder 3">
            <a:extLst>
              <a:ext uri="{FF2B5EF4-FFF2-40B4-BE49-F238E27FC236}">
                <a16:creationId xmlns:a16="http://schemas.microsoft.com/office/drawing/2014/main" id="{609863E3-AC7D-4A42-BE09-15EA993370CF}"/>
              </a:ext>
            </a:extLst>
          </p:cNvPr>
          <p:cNvSpPr>
            <a:spLocks noGrp="1"/>
          </p:cNvSpPr>
          <p:nvPr>
            <p:ph idx="2"/>
          </p:nvPr>
        </p:nvSpPr>
        <p:spPr>
          <a:xfrm>
            <a:off x="2194562" y="7571234"/>
            <a:ext cx="19092673" cy="276999"/>
          </a:xfrm>
          <a:prstGeom prst="rect">
            <a:avLst/>
          </a:prstGeom>
        </p:spPr>
        <p:txBody>
          <a:bodyPr wrap="square" lIns="0" tIns="0" rIns="0" bIns="0">
            <a:spAutoFit/>
          </a:bodyPr>
          <a:lstStyle>
            <a:lvl1pPr>
              <a:buNone/>
              <a:defRPr/>
            </a:lvl1pPr>
          </a:lstStyle>
          <a:p>
            <a:pPr lvl="0">
              <a:buNone/>
            </a:pPr>
            <a:r>
              <a:t>Click to edit Master text styles</a:t>
            </a:r>
          </a:p>
        </p:txBody>
      </p:sp>
      <p:sp>
        <p:nvSpPr>
          <p:cNvPr id="4" name="Holder 4">
            <a:extLst>
              <a:ext uri="{FF2B5EF4-FFF2-40B4-BE49-F238E27FC236}">
                <a16:creationId xmlns:a16="http://schemas.microsoft.com/office/drawing/2014/main" id="{EAF03F9E-4EBA-4755-B3B4-5B7655D3725E}"/>
              </a:ext>
            </a:extLst>
          </p:cNvPr>
          <p:cNvSpPr>
            <a:spLocks noGrp="1"/>
          </p:cNvSpPr>
          <p:nvPr>
            <p:ph idx="3"/>
          </p:nvPr>
        </p:nvSpPr>
        <p:spPr>
          <a:xfrm>
            <a:off x="22603969" y="7571234"/>
            <a:ext cx="19092673" cy="276999"/>
          </a:xfrm>
          <a:prstGeom prst="rect">
            <a:avLst/>
          </a:prstGeom>
        </p:spPr>
        <p:txBody>
          <a:bodyPr wrap="square" lIns="0" tIns="0" rIns="0" bIns="0">
            <a:spAutoFit/>
          </a:bodyPr>
          <a:lstStyle>
            <a:lvl1pPr>
              <a:buNone/>
              <a:defRPr/>
            </a:lvl1pPr>
          </a:lstStyle>
          <a:p>
            <a:pPr lvl="0">
              <a:buNone/>
            </a:pPr>
            <a:r>
              <a:t>Click to edit Master text styles</a:t>
            </a:r>
          </a:p>
        </p:txBody>
      </p:sp>
      <p:sp>
        <p:nvSpPr>
          <p:cNvPr id="5" name="Holder 5">
            <a:extLst>
              <a:ext uri="{FF2B5EF4-FFF2-40B4-BE49-F238E27FC236}">
                <a16:creationId xmlns:a16="http://schemas.microsoft.com/office/drawing/2014/main" id="{1221FF6E-6906-43A3-8367-E0A8CFDE5227}"/>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6" name="Holder 6">
            <a:extLst>
              <a:ext uri="{FF2B5EF4-FFF2-40B4-BE49-F238E27FC236}">
                <a16:creationId xmlns:a16="http://schemas.microsoft.com/office/drawing/2014/main" id="{115DD75A-7272-412C-A76B-05B17050E474}"/>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10/17/26</a:t>
            </a:fld>
            <a:endParaRPr/>
          </a:p>
        </p:txBody>
      </p:sp>
      <p:sp>
        <p:nvSpPr>
          <p:cNvPr id="7" name="Holder 7">
            <a:extLst>
              <a:ext uri="{FF2B5EF4-FFF2-40B4-BE49-F238E27FC236}">
                <a16:creationId xmlns:a16="http://schemas.microsoft.com/office/drawing/2014/main" id="{684D0B07-CF19-4A92-B25C-CE22215A2B01}"/>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
        <p:nvSpPr>
          <p:cNvPr id="9" name="Picture Placeholder 8">
            <a:extLst>
              <a:ext uri="{FF2B5EF4-FFF2-40B4-BE49-F238E27FC236}">
                <a16:creationId xmlns:a16="http://schemas.microsoft.com/office/drawing/2014/main" id="{DEEC54B7-7D8B-C337-6E53-6B5766AB3F3B}"/>
              </a:ext>
            </a:extLst>
          </p:cNvPr>
          <p:cNvSpPr>
            <a:spLocks noGrp="1"/>
          </p:cNvSpPr>
          <p:nvPr>
            <p:ph type="pic" idx="15"/>
          </p:nvPr>
        </p:nvSpPr>
        <p:spPr>
          <a:xfrm>
            <a:off x="5839885" y="11896724"/>
            <a:ext cx="6975893" cy="276999"/>
          </a:xfrm>
        </p:spPr>
        <p:txBody>
          <a:bodyPr/>
          <a:lstStyle/>
          <a:p>
            <a:endParaRPr/>
          </a:p>
        </p:txBody>
      </p:sp>
      <p:sp>
        <p:nvSpPr>
          <p:cNvPr id="10" name="Picture Placeholder 9">
            <a:extLst>
              <a:ext uri="{FF2B5EF4-FFF2-40B4-BE49-F238E27FC236}">
                <a16:creationId xmlns:a16="http://schemas.microsoft.com/office/drawing/2014/main" id="{8C23DAD5-81F3-1F6D-D7B9-2344AF1E6E8C}"/>
              </a:ext>
            </a:extLst>
          </p:cNvPr>
          <p:cNvSpPr>
            <a:spLocks noGrp="1"/>
          </p:cNvSpPr>
          <p:nvPr>
            <p:ph type="pic" idx="16"/>
          </p:nvPr>
        </p:nvSpPr>
        <p:spPr>
          <a:xfrm>
            <a:off x="28138856" y="27901233"/>
            <a:ext cx="5902493" cy="276999"/>
          </a:xfrm>
        </p:spPr>
        <p:txBody>
          <a:bodyPr/>
          <a:lstStyle/>
          <a:p>
            <a:endParaRPr/>
          </a:p>
        </p:txBody>
      </p:sp>
      <p:sp>
        <p:nvSpPr>
          <p:cNvPr id="12" name="Picture Placeholder 11">
            <a:extLst>
              <a:ext uri="{FF2B5EF4-FFF2-40B4-BE49-F238E27FC236}">
                <a16:creationId xmlns:a16="http://schemas.microsoft.com/office/drawing/2014/main" id="{BE937B94-9BD8-23A7-C2DA-0131D2A015CD}"/>
              </a:ext>
            </a:extLst>
          </p:cNvPr>
          <p:cNvSpPr>
            <a:spLocks noGrp="1"/>
          </p:cNvSpPr>
          <p:nvPr>
            <p:ph type="pic" idx="17"/>
          </p:nvPr>
        </p:nvSpPr>
        <p:spPr>
          <a:xfrm>
            <a:off x="21560589" y="27865138"/>
            <a:ext cx="6127416" cy="276999"/>
          </a:xfrm>
        </p:spPr>
        <p:txBody>
          <a:bodyPr/>
          <a:lstStyle/>
          <a:p>
            <a:endParaRPr/>
          </a:p>
        </p:txBody>
      </p:sp>
      <p:sp>
        <p:nvSpPr>
          <p:cNvPr id="14" name="Picture Placeholder 13">
            <a:extLst>
              <a:ext uri="{FF2B5EF4-FFF2-40B4-BE49-F238E27FC236}">
                <a16:creationId xmlns:a16="http://schemas.microsoft.com/office/drawing/2014/main" id="{0B3C47D5-57AE-C184-6FE6-A7F0D24AC0D8}"/>
              </a:ext>
            </a:extLst>
          </p:cNvPr>
          <p:cNvSpPr>
            <a:spLocks noGrp="1"/>
          </p:cNvSpPr>
          <p:nvPr>
            <p:ph type="pic" idx="18"/>
          </p:nvPr>
        </p:nvSpPr>
        <p:spPr>
          <a:xfrm>
            <a:off x="34491417" y="27900730"/>
            <a:ext cx="6608457" cy="276999"/>
          </a:xfrm>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3FFF-5EB3-3733-C794-BCA13EFBBB78}"/>
              </a:ext>
            </a:extLst>
          </p:cNvPr>
          <p:cNvSpPr>
            <a:spLocks noGrp="1"/>
          </p:cNvSpPr>
          <p:nvPr>
            <p:ph type="title"/>
          </p:nvPr>
        </p:nvSpPr>
        <p:spPr>
          <a:xfrm>
            <a:off x="1174537" y="7652512"/>
            <a:ext cx="8692288" cy="2323713"/>
          </a:xfrm>
        </p:spPr>
        <p:txBody>
          <a:bodyPr/>
          <a:lstStyle/>
          <a:p>
            <a:r>
              <a:t>Click to edit Master title style</a:t>
            </a:r>
          </a:p>
        </p:txBody>
      </p:sp>
      <p:sp>
        <p:nvSpPr>
          <p:cNvPr id="3" name="Footer Placeholder 2">
            <a:extLst>
              <a:ext uri="{FF2B5EF4-FFF2-40B4-BE49-F238E27FC236}">
                <a16:creationId xmlns:a16="http://schemas.microsoft.com/office/drawing/2014/main" id="{F0632702-0509-DF13-3763-7BFEDEEC7245}"/>
              </a:ext>
            </a:extLst>
          </p:cNvPr>
          <p:cNvSpPr>
            <a:spLocks noGrp="1"/>
          </p:cNvSpPr>
          <p:nvPr>
            <p:ph type="ftr" idx="10"/>
          </p:nvPr>
        </p:nvSpPr>
        <p:spPr/>
        <p:txBody>
          <a:bodyPr/>
          <a:lstStyle/>
          <a:p>
            <a:endParaRPr/>
          </a:p>
        </p:txBody>
      </p:sp>
      <p:sp>
        <p:nvSpPr>
          <p:cNvPr id="4" name="Date Placeholder 3">
            <a:extLst>
              <a:ext uri="{FF2B5EF4-FFF2-40B4-BE49-F238E27FC236}">
                <a16:creationId xmlns:a16="http://schemas.microsoft.com/office/drawing/2014/main" id="{D2DBEE1B-E2EB-A67F-9C47-C1C736D6449A}"/>
              </a:ext>
            </a:extLst>
          </p:cNvPr>
          <p:cNvSpPr>
            <a:spLocks noGrp="1"/>
          </p:cNvSpPr>
          <p:nvPr>
            <p:ph type="dt" idx="11"/>
          </p:nvPr>
        </p:nvSpPr>
        <p:spPr/>
        <p:txBody>
          <a:bodyPr/>
          <a:lstStyle/>
          <a:p>
            <a:fld id="{1D8BD707-D9CF-40AE-B4C6-C98DA3205C09}" type="datetimeFigureOut">
              <a:t>10/17/26</a:t>
            </a:fld>
            <a:endParaRPr/>
          </a:p>
        </p:txBody>
      </p:sp>
      <p:sp>
        <p:nvSpPr>
          <p:cNvPr id="5" name="Slide Number Placeholder 4">
            <a:extLst>
              <a:ext uri="{FF2B5EF4-FFF2-40B4-BE49-F238E27FC236}">
                <a16:creationId xmlns:a16="http://schemas.microsoft.com/office/drawing/2014/main" id="{7C8ACD12-8935-5640-04A4-6ECEFCD45493}"/>
              </a:ext>
            </a:extLst>
          </p:cNvPr>
          <p:cNvSpPr>
            <a:spLocks noGrp="1"/>
          </p:cNvSpPr>
          <p:nvPr>
            <p:ph type="sldNum" idx="12"/>
          </p:nvPr>
        </p:nvSpPr>
        <p:spPr/>
        <p:txBody>
          <a:bodyPr/>
          <a:lstStyle/>
          <a:p>
            <a:fld id="{B6F15528-21DE-4FAA-801E-634DDDAF4B2B}" type="slidenum">
              <a:t>‹#›</a:t>
            </a:fld>
            <a:endParaRPr/>
          </a:p>
        </p:txBody>
      </p:sp>
      <p:sp>
        <p:nvSpPr>
          <p:cNvPr id="7" name="Picture Placeholder 6">
            <a:extLst>
              <a:ext uri="{FF2B5EF4-FFF2-40B4-BE49-F238E27FC236}">
                <a16:creationId xmlns:a16="http://schemas.microsoft.com/office/drawing/2014/main" id="{F05C3A77-B92C-D710-7C6A-DA040B6116CC}"/>
              </a:ext>
            </a:extLst>
          </p:cNvPr>
          <p:cNvSpPr>
            <a:spLocks noGrp="1"/>
          </p:cNvSpPr>
          <p:nvPr>
            <p:ph type="pic" idx="13"/>
          </p:nvPr>
        </p:nvSpPr>
        <p:spPr>
          <a:xfrm>
            <a:off x="11389896" y="28009516"/>
            <a:ext cx="7603957" cy="276999"/>
          </a:xfrm>
        </p:spPr>
        <p:txBody>
          <a:bodyPr/>
          <a:lstStyle/>
          <a:p>
            <a:endParaRPr/>
          </a:p>
        </p:txBody>
      </p:sp>
      <p:sp>
        <p:nvSpPr>
          <p:cNvPr id="9" name="Picture Placeholder 8">
            <a:extLst>
              <a:ext uri="{FF2B5EF4-FFF2-40B4-BE49-F238E27FC236}">
                <a16:creationId xmlns:a16="http://schemas.microsoft.com/office/drawing/2014/main" id="{A78515E1-D817-8EB8-B4B7-82E88BC55A47}"/>
              </a:ext>
            </a:extLst>
          </p:cNvPr>
          <p:cNvSpPr>
            <a:spLocks noGrp="1"/>
          </p:cNvSpPr>
          <p:nvPr>
            <p:ph type="pic" idx="14"/>
          </p:nvPr>
        </p:nvSpPr>
        <p:spPr>
          <a:xfrm>
            <a:off x="19540178" y="28009516"/>
            <a:ext cx="7603065" cy="276999"/>
          </a:xfrm>
        </p:spPr>
        <p:txBody>
          <a:bodyPr/>
          <a:lstStyle/>
          <a:p>
            <a:endParaRPr/>
          </a:p>
        </p:txBody>
      </p:sp>
      <p:sp>
        <p:nvSpPr>
          <p:cNvPr id="11" name="Picture Placeholder 10">
            <a:extLst>
              <a:ext uri="{FF2B5EF4-FFF2-40B4-BE49-F238E27FC236}">
                <a16:creationId xmlns:a16="http://schemas.microsoft.com/office/drawing/2014/main" id="{63D1C4D9-8358-21E6-5F9A-FFEC71B31D44}"/>
              </a:ext>
            </a:extLst>
          </p:cNvPr>
          <p:cNvSpPr>
            <a:spLocks noGrp="1"/>
          </p:cNvSpPr>
          <p:nvPr>
            <p:ph type="pic" idx="15"/>
          </p:nvPr>
        </p:nvSpPr>
        <p:spPr>
          <a:xfrm>
            <a:off x="27656035" y="28046362"/>
            <a:ext cx="6609903" cy="276999"/>
          </a:xfrm>
        </p:spPr>
        <p:txBody>
          <a:bodyPr/>
          <a:lstStyle/>
          <a:p>
            <a:endParaRPr/>
          </a:p>
        </p:txBody>
      </p:sp>
      <p:sp>
        <p:nvSpPr>
          <p:cNvPr id="13" name="Picture Placeholder 12">
            <a:extLst>
              <a:ext uri="{FF2B5EF4-FFF2-40B4-BE49-F238E27FC236}">
                <a16:creationId xmlns:a16="http://schemas.microsoft.com/office/drawing/2014/main" id="{97B84C42-4A7D-1701-0ED0-4936D06CA2A3}"/>
              </a:ext>
            </a:extLst>
          </p:cNvPr>
          <p:cNvSpPr>
            <a:spLocks noGrp="1"/>
          </p:cNvSpPr>
          <p:nvPr>
            <p:ph type="pic" idx="16"/>
          </p:nvPr>
        </p:nvSpPr>
        <p:spPr>
          <a:xfrm>
            <a:off x="34811592" y="28009517"/>
            <a:ext cx="6833715" cy="276999"/>
          </a:xfrm>
        </p:spPr>
        <p:txBody>
          <a:bodyPr/>
          <a:lstStyle/>
          <a:p>
            <a:endParaRPr/>
          </a:p>
        </p:txBody>
      </p:sp>
      <p:sp>
        <p:nvSpPr>
          <p:cNvPr id="15" name="Picture Placeholder 14">
            <a:extLst>
              <a:ext uri="{FF2B5EF4-FFF2-40B4-BE49-F238E27FC236}">
                <a16:creationId xmlns:a16="http://schemas.microsoft.com/office/drawing/2014/main" id="{8616BB7F-B00B-E6C0-7BEB-C3110759190D}"/>
              </a:ext>
            </a:extLst>
          </p:cNvPr>
          <p:cNvSpPr>
            <a:spLocks noGrp="1"/>
          </p:cNvSpPr>
          <p:nvPr>
            <p:ph type="pic" idx="17"/>
          </p:nvPr>
        </p:nvSpPr>
        <p:spPr>
          <a:xfrm>
            <a:off x="1174752" y="10287002"/>
            <a:ext cx="13747749" cy="276999"/>
          </a:xfrm>
        </p:spPr>
        <p:txBody>
          <a:bodyPr/>
          <a:lstStyle/>
          <a:p>
            <a:endParaRPr/>
          </a:p>
        </p:txBody>
      </p:sp>
      <p:sp>
        <p:nvSpPr>
          <p:cNvPr id="17" name="Picture Placeholder 16">
            <a:extLst>
              <a:ext uri="{FF2B5EF4-FFF2-40B4-BE49-F238E27FC236}">
                <a16:creationId xmlns:a16="http://schemas.microsoft.com/office/drawing/2014/main" id="{8F2A3737-6849-B79B-9D6E-66010141FC88}"/>
              </a:ext>
            </a:extLst>
          </p:cNvPr>
          <p:cNvSpPr>
            <a:spLocks noGrp="1"/>
          </p:cNvSpPr>
          <p:nvPr>
            <p:ph type="pic" idx="18"/>
          </p:nvPr>
        </p:nvSpPr>
        <p:spPr>
          <a:xfrm>
            <a:off x="15685443" y="12805099"/>
            <a:ext cx="13540316" cy="276999"/>
          </a:xfrm>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75713837-A11C-D121-DCC5-DAFE90165418}"/>
              </a:ext>
            </a:extLst>
          </p:cNvPr>
          <p:cNvSpPr>
            <a:spLocks noGrp="1"/>
          </p:cNvSpPr>
          <p:nvPr>
            <p:ph type="pic" idx="11"/>
          </p:nvPr>
        </p:nvSpPr>
        <p:spPr>
          <a:xfrm>
            <a:off x="-17141714" y="12440281"/>
            <a:ext cx="14988820" cy="276999"/>
          </a:xfrm>
        </p:spPr>
        <p:txBody>
          <a:bodyPr/>
          <a:lstStyle/>
          <a:p>
            <a:r>
              <a:t>Click icon to add picture</a:t>
            </a:r>
          </a:p>
        </p:txBody>
      </p:sp>
      <p:sp>
        <p:nvSpPr>
          <p:cNvPr id="19" name="Picture Placeholder 18">
            <a:extLst>
              <a:ext uri="{FF2B5EF4-FFF2-40B4-BE49-F238E27FC236}">
                <a16:creationId xmlns:a16="http://schemas.microsoft.com/office/drawing/2014/main" id="{49669121-0975-3E30-472A-F3E8A3356A09}"/>
              </a:ext>
            </a:extLst>
          </p:cNvPr>
          <p:cNvSpPr>
            <a:spLocks noGrp="1"/>
          </p:cNvSpPr>
          <p:nvPr>
            <p:ph type="pic" idx="12"/>
          </p:nvPr>
        </p:nvSpPr>
        <p:spPr>
          <a:xfrm>
            <a:off x="-11347005" y="4590766"/>
            <a:ext cx="9677400" cy="276999"/>
          </a:xfrm>
        </p:spPr>
        <p:txBody>
          <a:bodyPr/>
          <a:lstStyle/>
          <a:p>
            <a:r>
              <a:t>Click icon to add picture</a:t>
            </a:r>
          </a:p>
        </p:txBody>
      </p:sp>
      <p:sp>
        <p:nvSpPr>
          <p:cNvPr id="23" name="Picture Placeholder 22">
            <a:extLst>
              <a:ext uri="{FF2B5EF4-FFF2-40B4-BE49-F238E27FC236}">
                <a16:creationId xmlns:a16="http://schemas.microsoft.com/office/drawing/2014/main" id="{4021F5E4-159F-DAD4-DC14-9A04BF18913A}"/>
              </a:ext>
            </a:extLst>
          </p:cNvPr>
          <p:cNvSpPr>
            <a:spLocks noGrp="1"/>
          </p:cNvSpPr>
          <p:nvPr>
            <p:ph type="pic" idx="14"/>
          </p:nvPr>
        </p:nvSpPr>
        <p:spPr>
          <a:xfrm>
            <a:off x="-12008175" y="21267494"/>
            <a:ext cx="9675283" cy="276999"/>
          </a:xfrm>
        </p:spPr>
        <p:txBody>
          <a:bodyPr/>
          <a:lstStyle/>
          <a:p>
            <a:r>
              <a:t>Click icon to add picture</a:t>
            </a:r>
          </a:p>
        </p:txBody>
      </p:sp>
      <p:sp>
        <p:nvSpPr>
          <p:cNvPr id="3" name="Holder 3">
            <a:extLst>
              <a:ext uri="{FF2B5EF4-FFF2-40B4-BE49-F238E27FC236}">
                <a16:creationId xmlns:a16="http://schemas.microsoft.com/office/drawing/2014/main" id="{87ABA67F-E3A8-46A3-8C91-4EE6C38A4D45}"/>
              </a:ext>
            </a:extLst>
          </p:cNvPr>
          <p:cNvSpPr>
            <a:spLocks noGrp="1"/>
          </p:cNvSpPr>
          <p:nvPr>
            <p:ph idx="2" hasCustomPrompt="1"/>
          </p:nvPr>
        </p:nvSpPr>
        <p:spPr>
          <a:xfrm>
            <a:off x="2194562" y="1839904"/>
            <a:ext cx="19092673" cy="954107"/>
          </a:xfrm>
          <a:prstGeom prst="rect">
            <a:avLst/>
          </a:prstGeom>
        </p:spPr>
        <p:txBody>
          <a:bodyPr wrap="square" lIns="0" tIns="0" rIns="0" bIns="0">
            <a:spAutoFit/>
          </a:bodyPr>
          <a:lstStyle>
            <a:lvl1pPr>
              <a:buNone/>
              <a:defRPr sz="6200" b="1" i="0">
                <a:latin typeface="Franklin Gothic Demi Cond"/>
                <a:ea typeface="Franklin Gothic Demi Cond"/>
                <a:cs typeface="Franklin Gothic Demi Cond"/>
              </a:defRPr>
            </a:lvl1pPr>
          </a:lstStyle>
          <a:p>
            <a:pPr lvl="0">
              <a:buNone/>
            </a:pPr>
            <a:r>
              <a:t>Purdue signature logo</a:t>
            </a:r>
          </a:p>
        </p:txBody>
      </p:sp>
      <p:sp>
        <p:nvSpPr>
          <p:cNvPr id="4" name="Holder 4">
            <a:extLst>
              <a:ext uri="{FF2B5EF4-FFF2-40B4-BE49-F238E27FC236}">
                <a16:creationId xmlns:a16="http://schemas.microsoft.com/office/drawing/2014/main" id="{864E1C8F-D738-4A02-AB51-9700218E4901}"/>
              </a:ext>
            </a:extLst>
          </p:cNvPr>
          <p:cNvSpPr>
            <a:spLocks noGrp="1"/>
          </p:cNvSpPr>
          <p:nvPr>
            <p:ph idx="3"/>
          </p:nvPr>
        </p:nvSpPr>
        <p:spPr>
          <a:xfrm>
            <a:off x="22603969" y="1839906"/>
            <a:ext cx="19092673" cy="276999"/>
          </a:xfrm>
          <a:prstGeom prst="rect">
            <a:avLst/>
          </a:prstGeom>
        </p:spPr>
        <p:txBody>
          <a:bodyPr wrap="square" lIns="0" tIns="0" rIns="0" bIns="0">
            <a:spAutoFit/>
          </a:bodyPr>
          <a:lstStyle>
            <a:lvl1pPr>
              <a:buNone/>
              <a:defRPr/>
            </a:lvl1pPr>
          </a:lstStyle>
          <a:p>
            <a:pPr lvl="0">
              <a:buNone/>
            </a:pPr>
            <a:r>
              <a:t>Click to edit Master text styles</a:t>
            </a:r>
          </a:p>
        </p:txBody>
      </p:sp>
      <p:sp>
        <p:nvSpPr>
          <p:cNvPr id="5" name="Holder 5">
            <a:extLst>
              <a:ext uri="{FF2B5EF4-FFF2-40B4-BE49-F238E27FC236}">
                <a16:creationId xmlns:a16="http://schemas.microsoft.com/office/drawing/2014/main" id="{3E473947-A5EE-464D-8B16-ADCB2E70B172}"/>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6" name="Holder 6">
            <a:extLst>
              <a:ext uri="{FF2B5EF4-FFF2-40B4-BE49-F238E27FC236}">
                <a16:creationId xmlns:a16="http://schemas.microsoft.com/office/drawing/2014/main" id="{BCBC57EA-63E4-43BE-B372-B56AF55147CD}"/>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10/17/26</a:t>
            </a:fld>
            <a:endParaRPr/>
          </a:p>
        </p:txBody>
      </p:sp>
      <p:sp>
        <p:nvSpPr>
          <p:cNvPr id="7" name="Holder 7">
            <a:extLst>
              <a:ext uri="{FF2B5EF4-FFF2-40B4-BE49-F238E27FC236}">
                <a16:creationId xmlns:a16="http://schemas.microsoft.com/office/drawing/2014/main" id="{6FA0A1D3-B403-4AEF-8042-981589E33CFC}"/>
              </a:ext>
            </a:extLst>
          </p:cNvPr>
          <p:cNvSpPr>
            <a:spLocks noGrp="1"/>
          </p:cNvSpPr>
          <p:nvPr>
            <p:ph type="sldNum" idx="7"/>
          </p:nvPr>
        </p:nvSpPr>
        <p:spPr/>
        <p:txBody>
          <a:bodyPr lIns="0" tIns="0" rIns="0" bIns="0"/>
          <a:lstStyle>
            <a:lvl1pPr algn="r">
              <a:buNone/>
              <a:defRPr>
                <a:solidFill>
                  <a:schemeClr val="tx1">
                    <a:tint val="75000"/>
                  </a:schemeClr>
                </a:solidFill>
              </a:defRPr>
            </a:lvl1pPr>
          </a:lstStyle>
          <a:p>
            <a:fld id="{B6F15528-21DE-4FAA-801E-634DDDAF4B2B}" type="slidenum">
              <a:t>‹#›</a:t>
            </a:fld>
            <a:endParaRPr/>
          </a:p>
        </p:txBody>
      </p:sp>
      <p:sp>
        <p:nvSpPr>
          <p:cNvPr id="15" name="Picture Placeholder 14">
            <a:extLst>
              <a:ext uri="{FF2B5EF4-FFF2-40B4-BE49-F238E27FC236}">
                <a16:creationId xmlns:a16="http://schemas.microsoft.com/office/drawing/2014/main" id="{2A82BCDE-1DBA-1029-6BF3-3D29A9D2EC60}"/>
              </a:ext>
            </a:extLst>
          </p:cNvPr>
          <p:cNvSpPr>
            <a:spLocks noGrp="1"/>
          </p:cNvSpPr>
          <p:nvPr>
            <p:ph type="pic" idx="10"/>
          </p:nvPr>
        </p:nvSpPr>
        <p:spPr>
          <a:xfrm>
            <a:off x="2639509" y="4828497"/>
            <a:ext cx="8796588" cy="276999"/>
          </a:xfrm>
        </p:spPr>
        <p:txBody>
          <a:bodyPr/>
          <a:lstStyle/>
          <a:p>
            <a:r>
              <a:t>Click icon to add picture</a:t>
            </a:r>
          </a:p>
        </p:txBody>
      </p:sp>
      <p:sp>
        <p:nvSpPr>
          <p:cNvPr id="9" name="Picture Placeholder 14">
            <a:extLst>
              <a:ext uri="{FF2B5EF4-FFF2-40B4-BE49-F238E27FC236}">
                <a16:creationId xmlns:a16="http://schemas.microsoft.com/office/drawing/2014/main" id="{A97227CB-E8E7-DCF7-08FC-FC38D23DEB11}"/>
              </a:ext>
            </a:extLst>
          </p:cNvPr>
          <p:cNvSpPr>
            <a:spLocks noGrp="1"/>
          </p:cNvSpPr>
          <p:nvPr>
            <p:ph type="pic" idx="15"/>
          </p:nvPr>
        </p:nvSpPr>
        <p:spPr>
          <a:xfrm>
            <a:off x="12752833" y="4306826"/>
            <a:ext cx="7439212" cy="276999"/>
          </a:xfrm>
        </p:spPr>
        <p:txBody>
          <a:bodyPr/>
          <a:lstStyle/>
          <a:p>
            <a:r>
              <a:t>Click icon to add picture</a:t>
            </a:r>
          </a:p>
        </p:txBody>
      </p:sp>
      <p:sp>
        <p:nvSpPr>
          <p:cNvPr id="10" name="Holder 3">
            <a:extLst>
              <a:ext uri="{FF2B5EF4-FFF2-40B4-BE49-F238E27FC236}">
                <a16:creationId xmlns:a16="http://schemas.microsoft.com/office/drawing/2014/main" id="{AC8F754C-DA61-5BA3-0491-58621B54C30B}"/>
              </a:ext>
            </a:extLst>
          </p:cNvPr>
          <p:cNvSpPr>
            <a:spLocks noGrp="1"/>
          </p:cNvSpPr>
          <p:nvPr>
            <p:ph idx="16" hasCustomPrompt="1"/>
          </p:nvPr>
        </p:nvSpPr>
        <p:spPr>
          <a:xfrm>
            <a:off x="2194562" y="10899648"/>
            <a:ext cx="19092673" cy="954107"/>
          </a:xfrm>
          <a:prstGeom prst="rect">
            <a:avLst/>
          </a:prstGeom>
        </p:spPr>
        <p:txBody>
          <a:bodyPr wrap="square" lIns="0" tIns="0" rIns="0" bIns="0">
            <a:spAutoFit/>
          </a:bodyPr>
          <a:lstStyle>
            <a:lvl1pPr>
              <a:buNone/>
              <a:defRPr sz="6200" b="1" i="0">
                <a:latin typeface="Franklin Gothic Demi Cond"/>
                <a:ea typeface="Franklin Gothic Demi Cond"/>
                <a:cs typeface="Franklin Gothic Demi Cond"/>
              </a:defRPr>
            </a:lvl1pPr>
          </a:lstStyle>
          <a:p>
            <a:pPr lvl="0">
              <a:buNone/>
            </a:pPr>
            <a:r>
              <a:t>Social media icons</a:t>
            </a:r>
          </a:p>
        </p:txBody>
      </p:sp>
      <p:sp>
        <p:nvSpPr>
          <p:cNvPr id="12" name="Picture Placeholder 14">
            <a:extLst>
              <a:ext uri="{FF2B5EF4-FFF2-40B4-BE49-F238E27FC236}">
                <a16:creationId xmlns:a16="http://schemas.microsoft.com/office/drawing/2014/main" id="{A35FBCA0-A99B-3E39-3C77-77BE456C7A49}"/>
              </a:ext>
            </a:extLst>
          </p:cNvPr>
          <p:cNvSpPr>
            <a:spLocks noGrp="1"/>
          </p:cNvSpPr>
          <p:nvPr>
            <p:ph type="pic" idx="17"/>
          </p:nvPr>
        </p:nvSpPr>
        <p:spPr>
          <a:xfrm>
            <a:off x="23048917" y="4828497"/>
            <a:ext cx="8796588" cy="276999"/>
          </a:xfrm>
        </p:spPr>
        <p:txBody>
          <a:bodyPr/>
          <a:lstStyle/>
          <a:p>
            <a:r>
              <a:t>Click icon to add picture</a:t>
            </a:r>
          </a:p>
        </p:txBody>
      </p:sp>
      <p:sp>
        <p:nvSpPr>
          <p:cNvPr id="13" name="Picture Placeholder 14">
            <a:extLst>
              <a:ext uri="{FF2B5EF4-FFF2-40B4-BE49-F238E27FC236}">
                <a16:creationId xmlns:a16="http://schemas.microsoft.com/office/drawing/2014/main" id="{4DBFAED4-7F96-04EC-197D-23D84E486595}"/>
              </a:ext>
            </a:extLst>
          </p:cNvPr>
          <p:cNvSpPr>
            <a:spLocks noGrp="1"/>
          </p:cNvSpPr>
          <p:nvPr>
            <p:ph type="pic" idx="18"/>
          </p:nvPr>
        </p:nvSpPr>
        <p:spPr>
          <a:xfrm>
            <a:off x="33162241" y="4306826"/>
            <a:ext cx="7439212" cy="276999"/>
          </a:xfrm>
        </p:spPr>
        <p:txBody>
          <a:bodyPr/>
          <a:lstStyle/>
          <a:p>
            <a:r>
              <a:t>Click icon to add picture</a:t>
            </a:r>
          </a:p>
        </p:txBody>
      </p:sp>
      <p:sp>
        <p:nvSpPr>
          <p:cNvPr id="16" name="Picture Placeholder 14">
            <a:extLst>
              <a:ext uri="{FF2B5EF4-FFF2-40B4-BE49-F238E27FC236}">
                <a16:creationId xmlns:a16="http://schemas.microsoft.com/office/drawing/2014/main" id="{089D1BDF-7D6F-6395-745C-D43BE44A3DC4}"/>
              </a:ext>
            </a:extLst>
          </p:cNvPr>
          <p:cNvSpPr>
            <a:spLocks noGrp="1"/>
          </p:cNvSpPr>
          <p:nvPr>
            <p:ph type="pic" idx="19"/>
          </p:nvPr>
        </p:nvSpPr>
        <p:spPr>
          <a:xfrm>
            <a:off x="2639509" y="14516332"/>
            <a:ext cx="1798380" cy="553998"/>
          </a:xfrm>
        </p:spPr>
        <p:txBody>
          <a:bodyPr/>
          <a:lstStyle/>
          <a:p>
            <a:r>
              <a:t>Click icon to add picture</a:t>
            </a:r>
          </a:p>
        </p:txBody>
      </p:sp>
      <p:sp>
        <p:nvSpPr>
          <p:cNvPr id="21" name="Picture Placeholder 14">
            <a:extLst>
              <a:ext uri="{FF2B5EF4-FFF2-40B4-BE49-F238E27FC236}">
                <a16:creationId xmlns:a16="http://schemas.microsoft.com/office/drawing/2014/main" id="{64127125-B694-61FE-35DE-B21E6E928093}"/>
              </a:ext>
            </a:extLst>
          </p:cNvPr>
          <p:cNvSpPr>
            <a:spLocks noGrp="1"/>
          </p:cNvSpPr>
          <p:nvPr>
            <p:ph type="pic" idx="21"/>
          </p:nvPr>
        </p:nvSpPr>
        <p:spPr>
          <a:xfrm>
            <a:off x="33148894" y="25684554"/>
            <a:ext cx="8796588" cy="276999"/>
          </a:xfrm>
        </p:spPr>
        <p:txBody>
          <a:bodyPr/>
          <a:lstStyle/>
          <a:p>
            <a:r>
              <a:t>Click icon to add picture</a:t>
            </a:r>
          </a:p>
        </p:txBody>
      </p:sp>
      <p:sp>
        <p:nvSpPr>
          <p:cNvPr id="22" name="Picture Placeholder 14">
            <a:extLst>
              <a:ext uri="{FF2B5EF4-FFF2-40B4-BE49-F238E27FC236}">
                <a16:creationId xmlns:a16="http://schemas.microsoft.com/office/drawing/2014/main" id="{17461F5D-6C80-D2EB-92DE-A66B5282E616}"/>
              </a:ext>
            </a:extLst>
          </p:cNvPr>
          <p:cNvSpPr>
            <a:spLocks noGrp="1"/>
          </p:cNvSpPr>
          <p:nvPr>
            <p:ph type="pic" idx="22"/>
          </p:nvPr>
        </p:nvSpPr>
        <p:spPr>
          <a:xfrm>
            <a:off x="33572393" y="19748931"/>
            <a:ext cx="7439212" cy="276999"/>
          </a:xfrm>
        </p:spPr>
        <p:txBody>
          <a:bodyPr/>
          <a:lstStyle/>
          <a:p>
            <a:r>
              <a:t>Click icon to add picture</a:t>
            </a:r>
          </a:p>
        </p:txBody>
      </p:sp>
      <p:sp>
        <p:nvSpPr>
          <p:cNvPr id="24" name="Picture Placeholder 14">
            <a:extLst>
              <a:ext uri="{FF2B5EF4-FFF2-40B4-BE49-F238E27FC236}">
                <a16:creationId xmlns:a16="http://schemas.microsoft.com/office/drawing/2014/main" id="{9E7F4CEB-9B57-7BB8-134C-18AA15DF79D9}"/>
              </a:ext>
            </a:extLst>
          </p:cNvPr>
          <p:cNvSpPr>
            <a:spLocks noGrp="1"/>
          </p:cNvSpPr>
          <p:nvPr>
            <p:ph type="pic" idx="23"/>
          </p:nvPr>
        </p:nvSpPr>
        <p:spPr>
          <a:xfrm>
            <a:off x="4978401" y="14516332"/>
            <a:ext cx="1798380" cy="553998"/>
          </a:xfrm>
        </p:spPr>
        <p:txBody>
          <a:bodyPr/>
          <a:lstStyle/>
          <a:p>
            <a:r>
              <a:t>Click icon to add picture</a:t>
            </a:r>
          </a:p>
        </p:txBody>
      </p:sp>
      <p:sp>
        <p:nvSpPr>
          <p:cNvPr id="25" name="Picture Placeholder 14">
            <a:extLst>
              <a:ext uri="{FF2B5EF4-FFF2-40B4-BE49-F238E27FC236}">
                <a16:creationId xmlns:a16="http://schemas.microsoft.com/office/drawing/2014/main" id="{E988C9D8-8CB3-C274-FEDE-4688619AD323}"/>
              </a:ext>
            </a:extLst>
          </p:cNvPr>
          <p:cNvSpPr>
            <a:spLocks noGrp="1"/>
          </p:cNvSpPr>
          <p:nvPr>
            <p:ph type="pic" idx="24"/>
          </p:nvPr>
        </p:nvSpPr>
        <p:spPr>
          <a:xfrm>
            <a:off x="7315201" y="14516332"/>
            <a:ext cx="1798380" cy="553998"/>
          </a:xfrm>
        </p:spPr>
        <p:txBody>
          <a:bodyPr/>
          <a:lstStyle/>
          <a:p>
            <a:r>
              <a:t>Click icon to add picture</a:t>
            </a:r>
          </a:p>
        </p:txBody>
      </p:sp>
      <p:sp>
        <p:nvSpPr>
          <p:cNvPr id="26" name="Picture Placeholder 14">
            <a:extLst>
              <a:ext uri="{FF2B5EF4-FFF2-40B4-BE49-F238E27FC236}">
                <a16:creationId xmlns:a16="http://schemas.microsoft.com/office/drawing/2014/main" id="{4FA41D05-5546-0E9A-BB1E-C5BE9C7AC5CA}"/>
              </a:ext>
            </a:extLst>
          </p:cNvPr>
          <p:cNvSpPr>
            <a:spLocks noGrp="1"/>
          </p:cNvSpPr>
          <p:nvPr>
            <p:ph type="pic" idx="25"/>
          </p:nvPr>
        </p:nvSpPr>
        <p:spPr>
          <a:xfrm>
            <a:off x="9654093" y="14516332"/>
            <a:ext cx="1798380" cy="553998"/>
          </a:xfrm>
        </p:spPr>
        <p:txBody>
          <a:bodyPr/>
          <a:lstStyle/>
          <a:p>
            <a:r>
              <a:t>Click icon to add picture</a:t>
            </a:r>
          </a:p>
        </p:txBody>
      </p:sp>
      <p:sp>
        <p:nvSpPr>
          <p:cNvPr id="27" name="Picture Placeholder 14">
            <a:extLst>
              <a:ext uri="{FF2B5EF4-FFF2-40B4-BE49-F238E27FC236}">
                <a16:creationId xmlns:a16="http://schemas.microsoft.com/office/drawing/2014/main" id="{C61A5CC8-6953-C05A-B31D-3993F1384CB1}"/>
              </a:ext>
            </a:extLst>
          </p:cNvPr>
          <p:cNvSpPr>
            <a:spLocks noGrp="1"/>
          </p:cNvSpPr>
          <p:nvPr>
            <p:ph type="pic" idx="26"/>
          </p:nvPr>
        </p:nvSpPr>
        <p:spPr>
          <a:xfrm>
            <a:off x="11984737" y="14516332"/>
            <a:ext cx="1798380" cy="553998"/>
          </a:xfrm>
        </p:spPr>
        <p:txBody>
          <a:bodyPr/>
          <a:lstStyle/>
          <a:p>
            <a:r>
              <a:t>Click icon to add picture</a:t>
            </a:r>
          </a:p>
        </p:txBody>
      </p:sp>
      <p:sp>
        <p:nvSpPr>
          <p:cNvPr id="28" name="Picture Placeholder 14">
            <a:extLst>
              <a:ext uri="{FF2B5EF4-FFF2-40B4-BE49-F238E27FC236}">
                <a16:creationId xmlns:a16="http://schemas.microsoft.com/office/drawing/2014/main" id="{EF32B872-0756-2D67-F74D-4483B157CB8C}"/>
              </a:ext>
            </a:extLst>
          </p:cNvPr>
          <p:cNvSpPr>
            <a:spLocks noGrp="1"/>
          </p:cNvSpPr>
          <p:nvPr>
            <p:ph type="pic" idx="27"/>
          </p:nvPr>
        </p:nvSpPr>
        <p:spPr>
          <a:xfrm>
            <a:off x="14323629" y="14516332"/>
            <a:ext cx="1798380" cy="553998"/>
          </a:xfrm>
        </p:spPr>
        <p:txBody>
          <a:bodyPr/>
          <a:lstStyle/>
          <a:p>
            <a:r>
              <a:t>Click icon to add picture</a:t>
            </a:r>
          </a:p>
        </p:txBody>
      </p:sp>
      <p:sp>
        <p:nvSpPr>
          <p:cNvPr id="29" name="Picture Placeholder 14">
            <a:extLst>
              <a:ext uri="{FF2B5EF4-FFF2-40B4-BE49-F238E27FC236}">
                <a16:creationId xmlns:a16="http://schemas.microsoft.com/office/drawing/2014/main" id="{9D2F2302-6168-F3F4-BCE6-3A6C94D10E70}"/>
              </a:ext>
            </a:extLst>
          </p:cNvPr>
          <p:cNvSpPr>
            <a:spLocks noGrp="1"/>
          </p:cNvSpPr>
          <p:nvPr>
            <p:ph type="pic" idx="28"/>
          </p:nvPr>
        </p:nvSpPr>
        <p:spPr>
          <a:xfrm>
            <a:off x="16660429" y="14516332"/>
            <a:ext cx="1798380" cy="553998"/>
          </a:xfrm>
        </p:spPr>
        <p:txBody>
          <a:bodyPr/>
          <a:lstStyle/>
          <a:p>
            <a:r>
              <a:t>Click icon to add picture</a:t>
            </a:r>
          </a:p>
        </p:txBody>
      </p:sp>
      <p:sp>
        <p:nvSpPr>
          <p:cNvPr id="30" name="Picture Placeholder 14">
            <a:extLst>
              <a:ext uri="{FF2B5EF4-FFF2-40B4-BE49-F238E27FC236}">
                <a16:creationId xmlns:a16="http://schemas.microsoft.com/office/drawing/2014/main" id="{A26EB20B-C1BC-FA78-53F3-85222B4E79D4}"/>
              </a:ext>
            </a:extLst>
          </p:cNvPr>
          <p:cNvSpPr>
            <a:spLocks noGrp="1"/>
          </p:cNvSpPr>
          <p:nvPr>
            <p:ph type="pic" idx="29"/>
          </p:nvPr>
        </p:nvSpPr>
        <p:spPr>
          <a:xfrm>
            <a:off x="18999321" y="14516332"/>
            <a:ext cx="1798380" cy="553998"/>
          </a:xfrm>
        </p:spPr>
        <p:txBody>
          <a:bodyPr/>
          <a:lstStyle/>
          <a:p>
            <a:r>
              <a:t>Click icon to add picture</a:t>
            </a:r>
          </a:p>
        </p:txBody>
      </p:sp>
      <p:sp>
        <p:nvSpPr>
          <p:cNvPr id="31" name="Picture Placeholder 14">
            <a:extLst>
              <a:ext uri="{FF2B5EF4-FFF2-40B4-BE49-F238E27FC236}">
                <a16:creationId xmlns:a16="http://schemas.microsoft.com/office/drawing/2014/main" id="{19438F4B-4CD9-3AD4-56CD-E634C601D417}"/>
              </a:ext>
            </a:extLst>
          </p:cNvPr>
          <p:cNvSpPr>
            <a:spLocks noGrp="1"/>
          </p:cNvSpPr>
          <p:nvPr>
            <p:ph type="pic" idx="30"/>
          </p:nvPr>
        </p:nvSpPr>
        <p:spPr>
          <a:xfrm>
            <a:off x="23063201" y="14516332"/>
            <a:ext cx="1798380" cy="553998"/>
          </a:xfrm>
        </p:spPr>
        <p:txBody>
          <a:bodyPr/>
          <a:lstStyle/>
          <a:p>
            <a:r>
              <a:t>Click icon to add picture</a:t>
            </a:r>
          </a:p>
        </p:txBody>
      </p:sp>
      <p:sp>
        <p:nvSpPr>
          <p:cNvPr id="32" name="Picture Placeholder 14">
            <a:extLst>
              <a:ext uri="{FF2B5EF4-FFF2-40B4-BE49-F238E27FC236}">
                <a16:creationId xmlns:a16="http://schemas.microsoft.com/office/drawing/2014/main" id="{D7C46003-B1EB-9261-5895-B044213FB5F6}"/>
              </a:ext>
            </a:extLst>
          </p:cNvPr>
          <p:cNvSpPr>
            <a:spLocks noGrp="1"/>
          </p:cNvSpPr>
          <p:nvPr>
            <p:ph type="pic" idx="31"/>
          </p:nvPr>
        </p:nvSpPr>
        <p:spPr>
          <a:xfrm>
            <a:off x="25402093" y="14516332"/>
            <a:ext cx="1798380" cy="553998"/>
          </a:xfrm>
        </p:spPr>
        <p:txBody>
          <a:bodyPr/>
          <a:lstStyle/>
          <a:p>
            <a:r>
              <a:t>Click icon to add picture</a:t>
            </a:r>
          </a:p>
        </p:txBody>
      </p:sp>
      <p:sp>
        <p:nvSpPr>
          <p:cNvPr id="33" name="Picture Placeholder 14">
            <a:extLst>
              <a:ext uri="{FF2B5EF4-FFF2-40B4-BE49-F238E27FC236}">
                <a16:creationId xmlns:a16="http://schemas.microsoft.com/office/drawing/2014/main" id="{4CB4D33F-F725-3C5B-0126-359DB193C4D4}"/>
              </a:ext>
            </a:extLst>
          </p:cNvPr>
          <p:cNvSpPr>
            <a:spLocks noGrp="1"/>
          </p:cNvSpPr>
          <p:nvPr>
            <p:ph type="pic" idx="32"/>
          </p:nvPr>
        </p:nvSpPr>
        <p:spPr>
          <a:xfrm>
            <a:off x="27738893" y="14516332"/>
            <a:ext cx="1798380" cy="553998"/>
          </a:xfrm>
        </p:spPr>
        <p:txBody>
          <a:bodyPr/>
          <a:lstStyle/>
          <a:p>
            <a:r>
              <a:t>Click icon to add picture</a:t>
            </a:r>
          </a:p>
        </p:txBody>
      </p:sp>
      <p:sp>
        <p:nvSpPr>
          <p:cNvPr id="34" name="Picture Placeholder 14">
            <a:extLst>
              <a:ext uri="{FF2B5EF4-FFF2-40B4-BE49-F238E27FC236}">
                <a16:creationId xmlns:a16="http://schemas.microsoft.com/office/drawing/2014/main" id="{D1F45A41-7A03-064A-DE49-4ABD36AFFAD8}"/>
              </a:ext>
            </a:extLst>
          </p:cNvPr>
          <p:cNvSpPr>
            <a:spLocks noGrp="1"/>
          </p:cNvSpPr>
          <p:nvPr>
            <p:ph type="pic" idx="33"/>
          </p:nvPr>
        </p:nvSpPr>
        <p:spPr>
          <a:xfrm>
            <a:off x="30077785" y="14516332"/>
            <a:ext cx="1798380" cy="553998"/>
          </a:xfrm>
        </p:spPr>
        <p:txBody>
          <a:bodyPr/>
          <a:lstStyle/>
          <a:p>
            <a:r>
              <a:t>Click icon to add picture</a:t>
            </a:r>
          </a:p>
        </p:txBody>
      </p:sp>
      <p:sp>
        <p:nvSpPr>
          <p:cNvPr id="35" name="Picture Placeholder 14">
            <a:extLst>
              <a:ext uri="{FF2B5EF4-FFF2-40B4-BE49-F238E27FC236}">
                <a16:creationId xmlns:a16="http://schemas.microsoft.com/office/drawing/2014/main" id="{BF41A08F-E689-64F0-499D-C63BCDC2FBC9}"/>
              </a:ext>
            </a:extLst>
          </p:cNvPr>
          <p:cNvSpPr>
            <a:spLocks noGrp="1"/>
          </p:cNvSpPr>
          <p:nvPr>
            <p:ph type="pic" idx="34"/>
          </p:nvPr>
        </p:nvSpPr>
        <p:spPr>
          <a:xfrm>
            <a:off x="32408429" y="14516332"/>
            <a:ext cx="1798380" cy="553998"/>
          </a:xfrm>
        </p:spPr>
        <p:txBody>
          <a:bodyPr/>
          <a:lstStyle/>
          <a:p>
            <a:r>
              <a:t>Click icon to add picture</a:t>
            </a:r>
          </a:p>
        </p:txBody>
      </p:sp>
      <p:sp>
        <p:nvSpPr>
          <p:cNvPr id="36" name="Picture Placeholder 14">
            <a:extLst>
              <a:ext uri="{FF2B5EF4-FFF2-40B4-BE49-F238E27FC236}">
                <a16:creationId xmlns:a16="http://schemas.microsoft.com/office/drawing/2014/main" id="{8DC3E8AD-3476-B86D-C346-7AFA0856A818}"/>
              </a:ext>
            </a:extLst>
          </p:cNvPr>
          <p:cNvSpPr>
            <a:spLocks noGrp="1"/>
          </p:cNvSpPr>
          <p:nvPr>
            <p:ph type="pic" idx="35"/>
          </p:nvPr>
        </p:nvSpPr>
        <p:spPr>
          <a:xfrm>
            <a:off x="34747321" y="14516332"/>
            <a:ext cx="1798380" cy="553998"/>
          </a:xfrm>
        </p:spPr>
        <p:txBody>
          <a:bodyPr/>
          <a:lstStyle/>
          <a:p>
            <a:r>
              <a:t>Click icon to add picture</a:t>
            </a:r>
          </a:p>
        </p:txBody>
      </p:sp>
      <p:sp>
        <p:nvSpPr>
          <p:cNvPr id="37" name="Picture Placeholder 14">
            <a:extLst>
              <a:ext uri="{FF2B5EF4-FFF2-40B4-BE49-F238E27FC236}">
                <a16:creationId xmlns:a16="http://schemas.microsoft.com/office/drawing/2014/main" id="{D602E86C-7428-0FBA-072E-4CEA3C51D946}"/>
              </a:ext>
            </a:extLst>
          </p:cNvPr>
          <p:cNvSpPr>
            <a:spLocks noGrp="1"/>
          </p:cNvSpPr>
          <p:nvPr>
            <p:ph type="pic" idx="36"/>
          </p:nvPr>
        </p:nvSpPr>
        <p:spPr>
          <a:xfrm>
            <a:off x="37084121" y="14516332"/>
            <a:ext cx="1798380" cy="553998"/>
          </a:xfrm>
        </p:spPr>
        <p:txBody>
          <a:bodyPr/>
          <a:lstStyle/>
          <a:p>
            <a:r>
              <a:t>Click icon to add picture</a:t>
            </a:r>
          </a:p>
        </p:txBody>
      </p:sp>
      <p:sp>
        <p:nvSpPr>
          <p:cNvPr id="38" name="Picture Placeholder 14">
            <a:extLst>
              <a:ext uri="{FF2B5EF4-FFF2-40B4-BE49-F238E27FC236}">
                <a16:creationId xmlns:a16="http://schemas.microsoft.com/office/drawing/2014/main" id="{EDD1872E-D5FE-ECA5-42A2-AAE24B4A1F80}"/>
              </a:ext>
            </a:extLst>
          </p:cNvPr>
          <p:cNvSpPr>
            <a:spLocks noGrp="1"/>
          </p:cNvSpPr>
          <p:nvPr>
            <p:ph type="pic" idx="37"/>
          </p:nvPr>
        </p:nvSpPr>
        <p:spPr>
          <a:xfrm>
            <a:off x="39423013" y="14516332"/>
            <a:ext cx="1798380" cy="553998"/>
          </a:xfrm>
        </p:spPr>
        <p:txBody>
          <a:bodyPr/>
          <a:lstStyle/>
          <a:p>
            <a:r>
              <a:t>Click icon to add picture</a:t>
            </a:r>
          </a:p>
        </p:txBody>
      </p:sp>
      <p:sp>
        <p:nvSpPr>
          <p:cNvPr id="39" name="Holder 3">
            <a:extLst>
              <a:ext uri="{FF2B5EF4-FFF2-40B4-BE49-F238E27FC236}">
                <a16:creationId xmlns:a16="http://schemas.microsoft.com/office/drawing/2014/main" id="{A71705C5-0FD4-CD6F-030E-0283409BD0C0}"/>
              </a:ext>
            </a:extLst>
          </p:cNvPr>
          <p:cNvSpPr>
            <a:spLocks noGrp="1"/>
          </p:cNvSpPr>
          <p:nvPr>
            <p:ph idx="38" hasCustomPrompt="1"/>
          </p:nvPr>
        </p:nvSpPr>
        <p:spPr>
          <a:xfrm>
            <a:off x="2194562" y="19888200"/>
            <a:ext cx="19092673" cy="954107"/>
          </a:xfrm>
          <a:prstGeom prst="rect">
            <a:avLst/>
          </a:prstGeom>
        </p:spPr>
        <p:txBody>
          <a:bodyPr wrap="square" lIns="0" tIns="0" rIns="0" bIns="0">
            <a:spAutoFit/>
          </a:bodyPr>
          <a:lstStyle>
            <a:lvl1pPr>
              <a:buNone/>
              <a:defRPr sz="6200" b="1" i="0">
                <a:latin typeface="Franklin Gothic Demi Cond"/>
                <a:ea typeface="Franklin Gothic Demi Cond"/>
                <a:cs typeface="Franklin Gothic Demi Cond"/>
              </a:defRPr>
            </a:lvl1pPr>
          </a:lstStyle>
          <a:p>
            <a:pPr lvl="0">
              <a:buNone/>
            </a:pPr>
            <a:r>
              <a:t>Links to Purdue brand assets</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D7500CF0-3234-4F5C-9E48-F7B72683F6B6}"/>
              </a:ext>
            </a:extLst>
          </p:cNvPr>
          <p:cNvSpPr>
            <a:spLocks noGrp="1"/>
          </p:cNvSpPr>
          <p:nvPr>
            <p:ph type="title"/>
          </p:nvPr>
        </p:nvSpPr>
        <p:spPr>
          <a:xfrm>
            <a:off x="1174537" y="7652511"/>
            <a:ext cx="8692288" cy="1161857"/>
          </a:xfrm>
          <a:prstGeom prst="rect">
            <a:avLst/>
          </a:prstGeom>
        </p:spPr>
        <p:txBody>
          <a:bodyPr wrap="square" lIns="0" tIns="0" rIns="0" bIns="0">
            <a:spAutoFit/>
          </a:bodyPr>
          <a:lstStyle>
            <a:lvl1pPr>
              <a:buNone/>
              <a:defRPr sz="7550" b="1" i="0">
                <a:solidFill>
                  <a:schemeClr val="bg1"/>
                </a:solidFill>
                <a:latin typeface="Impact"/>
                <a:ea typeface="Impact"/>
                <a:cs typeface="Impact"/>
              </a:defRPr>
            </a:lvl1pPr>
          </a:lstStyle>
          <a:p>
            <a:endParaRPr/>
          </a:p>
        </p:txBody>
      </p:sp>
      <p:sp>
        <p:nvSpPr>
          <p:cNvPr id="3" name="Holder 3">
            <a:extLst>
              <a:ext uri="{FF2B5EF4-FFF2-40B4-BE49-F238E27FC236}">
                <a16:creationId xmlns:a16="http://schemas.microsoft.com/office/drawing/2014/main" id="{1C09A653-8998-415C-838F-A491C5616C6A}"/>
              </a:ext>
            </a:extLst>
          </p:cNvPr>
          <p:cNvSpPr>
            <a:spLocks noGrp="1"/>
          </p:cNvSpPr>
          <p:nvPr>
            <p:ph type="body" idx="1"/>
          </p:nvPr>
        </p:nvSpPr>
        <p:spPr>
          <a:xfrm>
            <a:off x="2194560" y="7571234"/>
            <a:ext cx="39502080" cy="276999"/>
          </a:xfrm>
          <a:prstGeom prst="rect">
            <a:avLst/>
          </a:prstGeom>
        </p:spPr>
        <p:txBody>
          <a:bodyPr wrap="square" lIns="0" tIns="0" rIns="0" bIns="0">
            <a:spAutoFit/>
          </a:bodyPr>
          <a:lstStyle>
            <a:lvl1pPr>
              <a:buNone/>
              <a:defRPr/>
            </a:lvl1pPr>
          </a:lstStyle>
          <a:p>
            <a:endParaRPr/>
          </a:p>
        </p:txBody>
      </p:sp>
      <p:sp>
        <p:nvSpPr>
          <p:cNvPr id="4" name="Holder 4">
            <a:extLst>
              <a:ext uri="{FF2B5EF4-FFF2-40B4-BE49-F238E27FC236}">
                <a16:creationId xmlns:a16="http://schemas.microsoft.com/office/drawing/2014/main" id="{DD9522BE-C180-440E-A843-1C40CA295955}"/>
              </a:ext>
            </a:extLst>
          </p:cNvPr>
          <p:cNvSpPr>
            <a:spLocks noGrp="1"/>
          </p:cNvSpPr>
          <p:nvPr>
            <p:ph type="ftr" idx="5"/>
          </p:nvPr>
        </p:nvSpPr>
        <p:spPr>
          <a:xfrm>
            <a:off x="14923008" y="30614115"/>
            <a:ext cx="14045184" cy="276999"/>
          </a:xfrm>
          <a:prstGeom prst="rect">
            <a:avLst/>
          </a:prstGeom>
        </p:spPr>
        <p:txBody>
          <a:bodyPr wrap="square" lIns="0" tIns="0" rIns="0" bIns="0">
            <a:spAutoFit/>
          </a:bodyPr>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209469DC-B97E-4895-A90B-FA0A0F4C2513}"/>
              </a:ext>
            </a:extLst>
          </p:cNvPr>
          <p:cNvSpPr>
            <a:spLocks noGrp="1"/>
          </p:cNvSpPr>
          <p:nvPr>
            <p:ph type="dt" idx="6"/>
          </p:nvPr>
        </p:nvSpPr>
        <p:spPr>
          <a:xfrm>
            <a:off x="2194561" y="30614115"/>
            <a:ext cx="10094976" cy="276999"/>
          </a:xfrm>
          <a:prstGeom prst="rect">
            <a:avLst/>
          </a:prstGeom>
        </p:spPr>
        <p:txBody>
          <a:bodyPr wrap="square" lIns="0" tIns="0" rIns="0" bIns="0">
            <a:spAutoFit/>
          </a:bodyPr>
          <a:lstStyle>
            <a:lvl1pPr algn="l">
              <a:buNone/>
              <a:defRPr>
                <a:solidFill>
                  <a:schemeClr val="tx1">
                    <a:tint val="75000"/>
                  </a:schemeClr>
                </a:solidFill>
              </a:defRPr>
            </a:lvl1pPr>
          </a:lstStyle>
          <a:p>
            <a:fld id="{1D8BD707-D9CF-40AE-B4C6-C98DA3205C09}" type="datetimeFigureOut">
              <a:t>10/17/26</a:t>
            </a:fld>
            <a:endParaRPr/>
          </a:p>
        </p:txBody>
      </p:sp>
      <p:sp>
        <p:nvSpPr>
          <p:cNvPr id="6" name="Holder 6">
            <a:extLst>
              <a:ext uri="{FF2B5EF4-FFF2-40B4-BE49-F238E27FC236}">
                <a16:creationId xmlns:a16="http://schemas.microsoft.com/office/drawing/2014/main" id="{CD9F8FFC-2852-4DAF-94D9-B8CA417A8549}"/>
              </a:ext>
            </a:extLst>
          </p:cNvPr>
          <p:cNvSpPr>
            <a:spLocks noGrp="1"/>
          </p:cNvSpPr>
          <p:nvPr>
            <p:ph type="sldNum" idx="7"/>
          </p:nvPr>
        </p:nvSpPr>
        <p:spPr>
          <a:xfrm>
            <a:off x="31601667" y="30614115"/>
            <a:ext cx="10094976" cy="276999"/>
          </a:xfrm>
          <a:prstGeom prst="rect">
            <a:avLst/>
          </a:prstGeom>
        </p:spPr>
        <p:txBody>
          <a:bodyPr wrap="square" lIns="0" tIns="0" rIns="0" bIns="0">
            <a:spAutoFit/>
          </a:bodyPr>
          <a:lstStyle>
            <a:lvl1pPr algn="r">
              <a:buNone/>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buNone/>
        <a:defRPr>
          <a:latin typeface="+mj-lt"/>
          <a:ea typeface="+mj-lt"/>
          <a:cs typeface="+mj-lt"/>
        </a:defRPr>
      </a:lvl1pPr>
    </p:titleStyle>
    <p:bodyStyle>
      <a:lvl1pPr marL="0">
        <a:buNone/>
        <a:defRPr>
          <a:latin typeface="+mn-lt"/>
          <a:ea typeface="+mn-lt"/>
          <a:cs typeface="+mn-lt"/>
        </a:defRPr>
      </a:lvl1pPr>
      <a:lvl2pPr marL="966814">
        <a:buNone/>
        <a:defRPr>
          <a:latin typeface="+mn-lt"/>
          <a:ea typeface="+mn-lt"/>
          <a:cs typeface="+mn-lt"/>
        </a:defRPr>
      </a:lvl2pPr>
      <a:lvl3pPr marL="1933628">
        <a:buNone/>
        <a:defRPr>
          <a:latin typeface="+mn-lt"/>
          <a:ea typeface="+mn-lt"/>
          <a:cs typeface="+mn-lt"/>
        </a:defRPr>
      </a:lvl3pPr>
      <a:lvl4pPr marL="2900443">
        <a:buNone/>
        <a:defRPr>
          <a:latin typeface="+mn-lt"/>
          <a:ea typeface="+mn-lt"/>
          <a:cs typeface="+mn-lt"/>
        </a:defRPr>
      </a:lvl4pPr>
      <a:lvl5pPr marL="3867257">
        <a:buNone/>
        <a:defRPr>
          <a:latin typeface="+mn-lt"/>
          <a:ea typeface="+mn-lt"/>
          <a:cs typeface="+mn-lt"/>
        </a:defRPr>
      </a:lvl5pPr>
      <a:lvl6pPr marL="4834072">
        <a:buNone/>
        <a:defRPr>
          <a:latin typeface="+mn-lt"/>
          <a:ea typeface="+mn-lt"/>
          <a:cs typeface="+mn-lt"/>
        </a:defRPr>
      </a:lvl6pPr>
      <a:lvl7pPr marL="5800886">
        <a:buNone/>
        <a:defRPr>
          <a:latin typeface="+mn-lt"/>
          <a:ea typeface="+mn-lt"/>
          <a:cs typeface="+mn-lt"/>
        </a:defRPr>
      </a:lvl7pPr>
      <a:lvl8pPr marL="6767701">
        <a:buNone/>
        <a:defRPr>
          <a:latin typeface="+mn-lt"/>
          <a:ea typeface="+mn-lt"/>
          <a:cs typeface="+mn-lt"/>
        </a:defRPr>
      </a:lvl8pPr>
      <a:lvl9pPr marL="7734515">
        <a:buNone/>
        <a:defRPr>
          <a:latin typeface="+mn-lt"/>
          <a:ea typeface="+mn-lt"/>
          <a:cs typeface="+mn-lt"/>
        </a:defRPr>
      </a:lvl9pPr>
    </p:bodyStyle>
    <p:otherStyle>
      <a:lvl1pPr marL="0">
        <a:buNone/>
        <a:defRPr>
          <a:latin typeface="+mn-lt"/>
          <a:ea typeface="+mn-lt"/>
          <a:cs typeface="+mn-lt"/>
        </a:defRPr>
      </a:lvl1pPr>
      <a:lvl2pPr marL="966814">
        <a:buNone/>
        <a:defRPr>
          <a:latin typeface="+mn-lt"/>
          <a:ea typeface="+mn-lt"/>
          <a:cs typeface="+mn-lt"/>
        </a:defRPr>
      </a:lvl2pPr>
      <a:lvl3pPr marL="1933628">
        <a:buNone/>
        <a:defRPr>
          <a:latin typeface="+mn-lt"/>
          <a:ea typeface="+mn-lt"/>
          <a:cs typeface="+mn-lt"/>
        </a:defRPr>
      </a:lvl3pPr>
      <a:lvl4pPr marL="2900443">
        <a:buNone/>
        <a:defRPr>
          <a:latin typeface="+mn-lt"/>
          <a:ea typeface="+mn-lt"/>
          <a:cs typeface="+mn-lt"/>
        </a:defRPr>
      </a:lvl4pPr>
      <a:lvl5pPr marL="3867257">
        <a:buNone/>
        <a:defRPr>
          <a:latin typeface="+mn-lt"/>
          <a:ea typeface="+mn-lt"/>
          <a:cs typeface="+mn-lt"/>
        </a:defRPr>
      </a:lvl5pPr>
      <a:lvl6pPr marL="4834072">
        <a:buNone/>
        <a:defRPr>
          <a:latin typeface="+mn-lt"/>
          <a:ea typeface="+mn-lt"/>
          <a:cs typeface="+mn-lt"/>
        </a:defRPr>
      </a:lvl6pPr>
      <a:lvl7pPr marL="5800886">
        <a:buNone/>
        <a:defRPr>
          <a:latin typeface="+mn-lt"/>
          <a:ea typeface="+mn-lt"/>
          <a:cs typeface="+mn-lt"/>
        </a:defRPr>
      </a:lvl7pPr>
      <a:lvl8pPr marL="6767701">
        <a:buNone/>
        <a:defRPr>
          <a:latin typeface="+mn-lt"/>
          <a:ea typeface="+mn-lt"/>
          <a:cs typeface="+mn-lt"/>
        </a:defRPr>
      </a:lvl8pPr>
      <a:lvl9pPr marL="7734515">
        <a:buNone/>
        <a:defRPr>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org&amp;utm_campaign=index&amp;utm_content=original"/><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org&amp;utm_campaign=index&amp;utm_content=thumbnail"/><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DC62E92-14BA-C642-F962-7EA9FF80195B}"/>
              </a:ext>
            </a:extLst>
          </p:cNvPr>
          <p:cNvSpPr>
            <a:spLocks noGrp="1"/>
          </p:cNvSpPr>
          <p:nvPr/>
        </p:nvSpPr>
        <p:spPr>
          <a:xfrm>
            <a:off x="1562161" y="5290948"/>
            <a:ext cx="40888649" cy="261230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dirty="0"/>
          </a:p>
        </p:txBody>
      </p:sp>
      <p:sp>
        <p:nvSpPr>
          <p:cNvPr id="20" name="object 23">
            <a:extLst>
              <a:ext uri="{FF2B5EF4-FFF2-40B4-BE49-F238E27FC236}">
                <a16:creationId xmlns:a16="http://schemas.microsoft.com/office/drawing/2014/main" id="{6FF7F9D3-57BA-8E4A-DCFF-909975469153}"/>
              </a:ext>
            </a:extLst>
          </p:cNvPr>
          <p:cNvSpPr>
            <a:spLocks noGrp="1"/>
          </p:cNvSpPr>
          <p:nvPr/>
        </p:nvSpPr>
        <p:spPr>
          <a:xfrm>
            <a:off x="1538816" y="8526283"/>
            <a:ext cx="13024910" cy="5947763"/>
          </a:xfrm>
          <a:custGeom>
            <a:avLst/>
            <a:gdLst/>
            <a:ahLst/>
            <a:cxnLst/>
            <a:rect l="l" t="t" r="r" b="b"/>
            <a:pathLst>
              <a:path w="4432934" h="78740">
                <a:moveTo>
                  <a:pt x="4432674" y="0"/>
                </a:moveTo>
                <a:lnTo>
                  <a:pt x="0" y="0"/>
                </a:lnTo>
                <a:lnTo>
                  <a:pt x="0" y="78182"/>
                </a:lnTo>
                <a:lnTo>
                  <a:pt x="4432674" y="78182"/>
                </a:lnTo>
                <a:lnTo>
                  <a:pt x="4432674" y="0"/>
                </a:lnTo>
                <a:close/>
              </a:path>
            </a:pathLst>
          </a:custGeom>
          <a:solidFill>
            <a:schemeClr val="accent1"/>
          </a:solidFill>
        </p:spPr>
        <p:txBody>
          <a:bodyPr wrap="square" lIns="0" tIns="0" rIns="0" bIns="0"/>
          <a:lstStyle/>
          <a:p>
            <a:endParaRPr/>
          </a:p>
        </p:txBody>
      </p:sp>
      <p:sp>
        <p:nvSpPr>
          <p:cNvPr id="9" name="object 20">
            <a:extLst>
              <a:ext uri="{FF2B5EF4-FFF2-40B4-BE49-F238E27FC236}">
                <a16:creationId xmlns:a16="http://schemas.microsoft.com/office/drawing/2014/main" id="{B1C77ACE-378F-34A0-1622-19ECA4B089B4}"/>
              </a:ext>
            </a:extLst>
          </p:cNvPr>
          <p:cNvSpPr>
            <a:spLocks noGrp="1"/>
          </p:cNvSpPr>
          <p:nvPr/>
        </p:nvSpPr>
        <p:spPr>
          <a:xfrm>
            <a:off x="2108335" y="10937891"/>
            <a:ext cx="11948417" cy="2790328"/>
          </a:xfrm>
          <a:prstGeom prst="rect">
            <a:avLst/>
          </a:prstGeom>
        </p:spPr>
        <p:txBody>
          <a:bodyPr vert="horz" wrap="square" lIns="0" tIns="20142" rIns="0" bIns="0">
            <a:spAutoFit/>
          </a:bodyPr>
          <a:lstStyle/>
          <a:p>
            <a:pPr marR="10742" algn="just">
              <a:lnSpc>
                <a:spcPts val="3591"/>
              </a:lnSpc>
              <a:spcBef>
                <a:spcPts val="2167"/>
              </a:spcBef>
              <a:buNone/>
            </a:pPr>
            <a:r>
              <a:rPr lang="en-US" sz="3100" dirty="0">
                <a:latin typeface="Franklin Gothic Medium"/>
                <a:ea typeface="Franklin Gothic Medium"/>
                <a:cs typeface="Franklin Gothic Medium"/>
              </a:rPr>
              <a:t>We develop algorithms that dramatically accelerate the simulation of complex physical systems encountered in engineering, Earth sciences, nuclear fusion and fission. For example, we build surrogate models for rapid forecasting of near-wall turbulent flows encountered in hypersonic flight, and rapidly predict the Earth’s atmosphere using deep learning models</a:t>
            </a:r>
          </a:p>
        </p:txBody>
      </p:sp>
      <p:sp>
        <p:nvSpPr>
          <p:cNvPr id="11" name="object 23">
            <a:extLst>
              <a:ext uri="{FF2B5EF4-FFF2-40B4-BE49-F238E27FC236}">
                <a16:creationId xmlns:a16="http://schemas.microsoft.com/office/drawing/2014/main" id="{D69DF3E5-E23B-1703-8BA1-B17CBD44F81B}"/>
              </a:ext>
            </a:extLst>
          </p:cNvPr>
          <p:cNvSpPr>
            <a:spLocks noGrp="1"/>
          </p:cNvSpPr>
          <p:nvPr/>
        </p:nvSpPr>
        <p:spPr>
          <a:xfrm>
            <a:off x="1545918" y="1029184"/>
            <a:ext cx="35265849" cy="3802357"/>
          </a:xfrm>
          <a:custGeom>
            <a:avLst/>
            <a:gdLst/>
            <a:ahLst/>
            <a:cxnLst/>
            <a:rect l="l" t="t" r="r" b="b"/>
            <a:pathLst>
              <a:path w="4432934" h="78740">
                <a:moveTo>
                  <a:pt x="4432674" y="0"/>
                </a:moveTo>
                <a:lnTo>
                  <a:pt x="0" y="0"/>
                </a:lnTo>
                <a:lnTo>
                  <a:pt x="0" y="78182"/>
                </a:lnTo>
                <a:lnTo>
                  <a:pt x="4432674" y="78182"/>
                </a:lnTo>
                <a:lnTo>
                  <a:pt x="4432674" y="0"/>
                </a:lnTo>
                <a:close/>
              </a:path>
            </a:pathLst>
          </a:custGeom>
          <a:solidFill>
            <a:schemeClr val="tx1"/>
          </a:solidFill>
        </p:spPr>
        <p:txBody>
          <a:bodyPr wrap="square" lIns="0" tIns="0" rIns="0" bIns="0"/>
          <a:lstStyle/>
          <a:p>
            <a:endParaRPr/>
          </a:p>
        </p:txBody>
      </p:sp>
      <p:sp>
        <p:nvSpPr>
          <p:cNvPr id="33" name="object 23">
            <a:extLst>
              <a:ext uri="{FF2B5EF4-FFF2-40B4-BE49-F238E27FC236}">
                <a16:creationId xmlns:a16="http://schemas.microsoft.com/office/drawing/2014/main" id="{D515DE35-3AFD-73AF-AB5E-C9917A82E3A5}"/>
              </a:ext>
            </a:extLst>
          </p:cNvPr>
          <p:cNvSpPr>
            <a:spLocks noGrp="1"/>
          </p:cNvSpPr>
          <p:nvPr/>
        </p:nvSpPr>
        <p:spPr>
          <a:xfrm>
            <a:off x="1553494" y="4724749"/>
            <a:ext cx="35258273" cy="309585"/>
          </a:xfrm>
          <a:custGeom>
            <a:avLst/>
            <a:gdLst/>
            <a:ahLst/>
            <a:cxnLst/>
            <a:rect l="l" t="t" r="r" b="b"/>
            <a:pathLst>
              <a:path w="4432934" h="78740">
                <a:moveTo>
                  <a:pt x="4432674" y="0"/>
                </a:moveTo>
                <a:lnTo>
                  <a:pt x="0" y="0"/>
                </a:lnTo>
                <a:lnTo>
                  <a:pt x="0" y="78182"/>
                </a:lnTo>
                <a:lnTo>
                  <a:pt x="4432674" y="78182"/>
                </a:lnTo>
                <a:lnTo>
                  <a:pt x="4432674" y="0"/>
                </a:lnTo>
                <a:close/>
              </a:path>
            </a:pathLst>
          </a:custGeom>
          <a:solidFill>
            <a:srgbClr val="D6BE91"/>
          </a:solidFill>
        </p:spPr>
        <p:txBody>
          <a:bodyPr wrap="square" lIns="0" tIns="0" rIns="0" bIns="0"/>
          <a:lstStyle/>
          <a:p>
            <a:endParaRPr/>
          </a:p>
        </p:txBody>
      </p:sp>
      <p:sp>
        <p:nvSpPr>
          <p:cNvPr id="10" name="object 20">
            <a:extLst>
              <a:ext uri="{FF2B5EF4-FFF2-40B4-BE49-F238E27FC236}">
                <a16:creationId xmlns:a16="http://schemas.microsoft.com/office/drawing/2014/main" id="{5F96050A-F67A-387A-8F9F-56EF947A1CD1}"/>
              </a:ext>
            </a:extLst>
          </p:cNvPr>
          <p:cNvSpPr>
            <a:spLocks noGrp="1"/>
          </p:cNvSpPr>
          <p:nvPr/>
        </p:nvSpPr>
        <p:spPr>
          <a:xfrm>
            <a:off x="2108334" y="8894416"/>
            <a:ext cx="11948418" cy="1866998"/>
          </a:xfrm>
          <a:prstGeom prst="rect">
            <a:avLst/>
          </a:prstGeom>
        </p:spPr>
        <p:txBody>
          <a:bodyPr vert="horz" wrap="square" lIns="0" tIns="20142" rIns="0" bIns="0">
            <a:spAutoFit/>
          </a:bodyPr>
          <a:lstStyle/>
          <a:p>
            <a:pPr marL="26856" algn="l">
              <a:spcBef>
                <a:spcPts val="10"/>
              </a:spcBef>
              <a:buNone/>
            </a:pPr>
            <a:r>
              <a:rPr lang="en-US" sz="6000" b="1" dirty="0">
                <a:latin typeface="Franklin Gothic Demi Cond"/>
                <a:ea typeface="Franklin Gothic Demi Cond"/>
                <a:cs typeface="Franklin Gothic Demi Cond"/>
              </a:rPr>
              <a:t>Physics-informed artificial intelligence</a:t>
            </a:r>
          </a:p>
          <a:p>
            <a:pPr marL="26856" algn="l">
              <a:spcBef>
                <a:spcPts val="10"/>
              </a:spcBef>
              <a:buNone/>
            </a:pPr>
            <a:r>
              <a:rPr lang="en-US" sz="6000" b="1" dirty="0">
                <a:latin typeface="Franklin Gothic Demi Cond"/>
                <a:ea typeface="Franklin Gothic Demi Cond"/>
                <a:cs typeface="Franklin Gothic Demi Cond"/>
              </a:rPr>
              <a:t>for rapid predictions</a:t>
            </a:r>
            <a:endParaRPr sz="6000" b="1" dirty="0">
              <a:latin typeface="Franklin Gothic Demi Cond"/>
              <a:ea typeface="Franklin Gothic Demi Cond"/>
              <a:cs typeface="Franklin Gothic Demi Cond"/>
            </a:endParaRPr>
          </a:p>
        </p:txBody>
      </p:sp>
      <p:sp>
        <p:nvSpPr>
          <p:cNvPr id="3" name="object 20">
            <a:extLst>
              <a:ext uri="{FF2B5EF4-FFF2-40B4-BE49-F238E27FC236}">
                <a16:creationId xmlns:a16="http://schemas.microsoft.com/office/drawing/2014/main" id="{FDEFD6D0-7C96-FB47-E42F-48E98B59D106}"/>
              </a:ext>
            </a:extLst>
          </p:cNvPr>
          <p:cNvSpPr>
            <a:spLocks noGrp="1"/>
          </p:cNvSpPr>
          <p:nvPr/>
        </p:nvSpPr>
        <p:spPr>
          <a:xfrm>
            <a:off x="1527362" y="21249967"/>
            <a:ext cx="13497444" cy="1400204"/>
          </a:xfrm>
          <a:prstGeom prst="rect">
            <a:avLst/>
          </a:prstGeom>
        </p:spPr>
        <p:txBody>
          <a:bodyPr vert="horz" wrap="square" lIns="0" tIns="20142" rIns="0" bIns="0">
            <a:spAutoFit/>
          </a:bodyPr>
          <a:lstStyle/>
          <a:p>
            <a:pPr marL="26856" marR="276616" algn="just">
              <a:spcBef>
                <a:spcPts val="159"/>
              </a:spcBef>
              <a:buNone/>
            </a:pPr>
            <a:r>
              <a:rPr lang="en-US" sz="2200" i="1" dirty="0">
                <a:latin typeface="Franklin Gothic Medium"/>
                <a:ea typeface="Franklin Gothic Medium"/>
                <a:cs typeface="Franklin Gothic Medium"/>
              </a:rPr>
              <a:t>Predicting the boundary layer of a turbulent hypersonic flow at Mach 5 given far off-wall velocities (top),</a:t>
            </a:r>
          </a:p>
          <a:p>
            <a:pPr marL="26856" marR="276616" algn="just">
              <a:spcBef>
                <a:spcPts val="159"/>
              </a:spcBef>
              <a:buNone/>
            </a:pPr>
            <a:r>
              <a:rPr lang="en-US" sz="2200" i="1" dirty="0">
                <a:latin typeface="Franklin Gothic Medium"/>
                <a:ea typeface="Franklin Gothic Medium"/>
                <a:cs typeface="Franklin Gothic Medium"/>
              </a:rPr>
              <a:t>and predicting a finely resolved near-surface temperature over CONUS given information from a coarse weather model (bottom). Both approaches were trained using conditional diffusion models with deep learning backbones.</a:t>
            </a:r>
            <a:endParaRPr sz="2200" i="1" dirty="0">
              <a:latin typeface="Franklin Gothic Medium"/>
              <a:ea typeface="Franklin Gothic Medium"/>
              <a:cs typeface="Franklin Gothic Medium"/>
            </a:endParaRPr>
          </a:p>
        </p:txBody>
      </p:sp>
      <p:sp>
        <p:nvSpPr>
          <p:cNvPr id="17" name="object 21">
            <a:extLst>
              <a:ext uri="{FF2B5EF4-FFF2-40B4-BE49-F238E27FC236}">
                <a16:creationId xmlns:a16="http://schemas.microsoft.com/office/drawing/2014/main" id="{D1A2C223-E163-7D03-33DF-A4E9CD2DBCF1}"/>
              </a:ext>
            </a:extLst>
          </p:cNvPr>
          <p:cNvSpPr>
            <a:spLocks noGrp="1"/>
          </p:cNvSpPr>
          <p:nvPr/>
        </p:nvSpPr>
        <p:spPr>
          <a:xfrm>
            <a:off x="1562161" y="29222256"/>
            <a:ext cx="40690739" cy="72822"/>
          </a:xfrm>
          <a:custGeom>
            <a:avLst/>
            <a:gdLst/>
            <a:ahLst/>
            <a:cxnLst/>
            <a:rect l="l" t="t" r="r" b="b"/>
            <a:pathLst>
              <a:path w="4432934" h="78739">
                <a:moveTo>
                  <a:pt x="4432674" y="0"/>
                </a:moveTo>
                <a:lnTo>
                  <a:pt x="0" y="0"/>
                </a:lnTo>
                <a:lnTo>
                  <a:pt x="0" y="78182"/>
                </a:lnTo>
                <a:lnTo>
                  <a:pt x="4432674" y="78182"/>
                </a:lnTo>
                <a:lnTo>
                  <a:pt x="4432674" y="0"/>
                </a:lnTo>
                <a:close/>
              </a:path>
            </a:pathLst>
          </a:custGeom>
          <a:solidFill>
            <a:schemeClr val="accent2"/>
          </a:solidFill>
          <a:ln>
            <a:noFill/>
          </a:ln>
        </p:spPr>
        <p:txBody>
          <a:bodyPr wrap="square" lIns="0" tIns="0" rIns="0" bIns="0"/>
          <a:lstStyle/>
          <a:p>
            <a:endParaRPr>
              <a:highlight>
                <a:srgbClr val="D6BE91"/>
              </a:highlight>
            </a:endParaRPr>
          </a:p>
        </p:txBody>
      </p:sp>
      <p:sp>
        <p:nvSpPr>
          <p:cNvPr id="55" name="Rectangle 54">
            <a:extLst>
              <a:ext uri="{FF2B5EF4-FFF2-40B4-BE49-F238E27FC236}">
                <a16:creationId xmlns:a16="http://schemas.microsoft.com/office/drawing/2014/main" id="{1F2A9926-D253-4255-87E1-A259CE3FD969}"/>
              </a:ext>
            </a:extLst>
          </p:cNvPr>
          <p:cNvSpPr>
            <a:spLocks noGrp="1"/>
          </p:cNvSpPr>
          <p:nvPr/>
        </p:nvSpPr>
        <p:spPr>
          <a:xfrm>
            <a:off x="2088071" y="1073753"/>
            <a:ext cx="31915654" cy="3592449"/>
          </a:xfrm>
          <a:prstGeom prst="rect">
            <a:avLst/>
          </a:prstGeom>
          <a:noFill/>
          <a:ln w="0">
            <a:noFill/>
            <a:prstDash val="solid"/>
          </a:ln>
        </p:spPr>
        <p:txBody>
          <a:bodyPr wrap="square" lIns="0" tIns="484727" rIns="0" bIns="0" anchor="ctr">
            <a:normAutofit fontScale="88352" lnSpcReduction="20000"/>
          </a:bodyPr>
          <a:lstStyle>
            <a:defPPr algn="l">
              <a:defRPr sz="13900" b="1">
                <a:solidFill>
                  <a:srgbClr val="FFFFFF"/>
                </a:solidFill>
                <a:latin typeface="Franklin Gothic Demi Cond"/>
                <a:ea typeface="Franklin Gothic Demi Cond"/>
                <a:cs typeface="Franklin Gothic Demi Cond"/>
              </a:defRPr>
            </a:defPPr>
          </a:lstStyle>
          <a:p>
            <a:pPr algn="l">
              <a:defRPr sz="13900" b="1">
                <a:solidFill>
                  <a:srgbClr val="FFFFFF"/>
                </a:solidFill>
                <a:latin typeface="Franklin Gothic Demi Cond"/>
                <a:ea typeface="Franklin Gothic Demi Cond"/>
                <a:cs typeface="Franklin Gothic Demi Cond"/>
              </a:defRPr>
            </a:pPr>
            <a:r>
              <a:rPr lang="en-US" sz="13900" b="1" dirty="0">
                <a:solidFill>
                  <a:srgbClr val="FFFFFF"/>
                </a:solidFill>
                <a:latin typeface="Franklin Gothic Demi Cond"/>
                <a:ea typeface="Franklin Gothic Demi Cond"/>
                <a:cs typeface="Franklin Gothic Demi Cond"/>
              </a:rPr>
              <a:t>The Interdisciplinary Scientific Computing Laboratory PI – Romit Maulik</a:t>
            </a:r>
            <a:endParaRPr sz="13900" b="1" dirty="0">
              <a:solidFill>
                <a:srgbClr val="FFFFFF"/>
              </a:solidFill>
              <a:latin typeface="Franklin Gothic Demi Cond"/>
              <a:ea typeface="Franklin Gothic Demi Cond"/>
              <a:cs typeface="Franklin Gothic Demi Cond"/>
            </a:endParaRPr>
          </a:p>
        </p:txBody>
      </p:sp>
      <p:sp>
        <p:nvSpPr>
          <p:cNvPr id="56" name="Rectangle 55">
            <a:extLst>
              <a:ext uri="{FF2B5EF4-FFF2-40B4-BE49-F238E27FC236}">
                <a16:creationId xmlns:a16="http://schemas.microsoft.com/office/drawing/2014/main" id="{32527451-F340-4A03-B974-979699EE865D}"/>
              </a:ext>
            </a:extLst>
          </p:cNvPr>
          <p:cNvSpPr>
            <a:spLocks noGrp="1"/>
          </p:cNvSpPr>
          <p:nvPr/>
        </p:nvSpPr>
        <p:spPr>
          <a:xfrm>
            <a:off x="2163223" y="5693093"/>
            <a:ext cx="39513224" cy="1754315"/>
          </a:xfrm>
          <a:prstGeom prst="rect">
            <a:avLst/>
          </a:prstGeom>
          <a:noFill/>
          <a:ln w="0">
            <a:noFill/>
            <a:prstDash val="solid"/>
          </a:ln>
        </p:spPr>
        <p:txBody>
          <a:bodyPr wrap="square" lIns="0" tIns="0" rIns="0" bIns="0" anchor="ctr">
            <a:normAutofit/>
          </a:bodyPr>
          <a:lstStyle>
            <a:defPPr algn="l">
              <a:defRPr sz="3800" b="1">
                <a:solidFill>
                  <a:srgbClr val="231F20"/>
                </a:solidFill>
                <a:latin typeface="Franklin Gothic Heavy"/>
                <a:ea typeface="Franklin Gothic Heavy"/>
                <a:cs typeface="Franklin Gothic Heavy"/>
              </a:defRPr>
            </a:defPPr>
          </a:lstStyle>
          <a:p>
            <a:pPr algn="l">
              <a:defRPr sz="3800" b="1">
                <a:solidFill>
                  <a:srgbClr val="231F20"/>
                </a:solidFill>
                <a:latin typeface="Franklin Gothic Heavy"/>
                <a:ea typeface="Franklin Gothic Heavy"/>
                <a:cs typeface="Franklin Gothic Heavy"/>
              </a:defRPr>
            </a:pPr>
            <a:r>
              <a:rPr lang="en-US" sz="3800" dirty="0">
                <a:solidFill>
                  <a:srgbClr val="231F20"/>
                </a:solidFill>
                <a:latin typeface="Franklin Gothic Heavy"/>
                <a:ea typeface="Franklin Gothic Heavy"/>
                <a:cs typeface="Franklin Gothic Heavy"/>
              </a:rPr>
              <a:t>Vision: To unite data science, artificial intelligence, quantum, and classical scientific computing techniques for accelerated scientific discovery.</a:t>
            </a:r>
          </a:p>
          <a:p>
            <a:pPr algn="l">
              <a:defRPr sz="3800" b="1">
                <a:solidFill>
                  <a:srgbClr val="231F20"/>
                </a:solidFill>
                <a:latin typeface="Franklin Gothic Heavy"/>
                <a:ea typeface="Franklin Gothic Heavy"/>
                <a:cs typeface="Franklin Gothic Heavy"/>
              </a:defRPr>
            </a:pPr>
            <a:r>
              <a:rPr lang="en-US" sz="3800" dirty="0">
                <a:solidFill>
                  <a:srgbClr val="231F20"/>
                </a:solidFill>
                <a:latin typeface="Franklin Gothic Heavy"/>
                <a:ea typeface="Franklin Gothic Heavy"/>
                <a:cs typeface="Franklin Gothic Heavy"/>
              </a:rPr>
              <a:t>Mission: Developing physics-informed, multimodal data-driven machine learning algorithms that improve the predictability of complex systems. Leveraging quantum-inspired computing paradigms to accelerate classical simulation workflows.</a:t>
            </a:r>
          </a:p>
        </p:txBody>
      </p:sp>
      <p:pic>
        <p:nvPicPr>
          <p:cNvPr id="15" name="Picture 14">
            <a:extLst>
              <a:ext uri="{FF2B5EF4-FFF2-40B4-BE49-F238E27FC236}">
                <a16:creationId xmlns:a16="http://schemas.microsoft.com/office/drawing/2014/main" id="{29836D7F-2782-0FF2-EEB2-6C1D80BC7EC6}"/>
              </a:ext>
            </a:extLst>
          </p:cNvPr>
          <p:cNvPicPr>
            <a:picLocks noChangeAspect="1"/>
          </p:cNvPicPr>
          <p:nvPr/>
        </p:nvPicPr>
        <p:blipFill>
          <a:blip r:embed="rId3"/>
          <a:srcRect t="2703"/>
          <a:stretch>
            <a:fillRect/>
          </a:stretch>
        </p:blipFill>
        <p:spPr>
          <a:xfrm>
            <a:off x="1348665" y="14524379"/>
            <a:ext cx="13249551" cy="6554550"/>
          </a:xfrm>
          <a:prstGeom prst="rect">
            <a:avLst/>
          </a:prstGeom>
        </p:spPr>
      </p:pic>
      <p:pic>
        <p:nvPicPr>
          <p:cNvPr id="2" name="Picture 1" descr="Jobs at Purdue University, School of Mechanical Engineering | Academic  Careers">
            <a:extLst>
              <a:ext uri="{FF2B5EF4-FFF2-40B4-BE49-F238E27FC236}">
                <a16:creationId xmlns:a16="http://schemas.microsoft.com/office/drawing/2014/main" id="{943F94EE-B7BC-4035-3E0A-33358B9A2F48}"/>
              </a:ext>
            </a:extLst>
          </p:cNvPr>
          <p:cNvPicPr>
            <a:picLocks noChangeAspect="1"/>
          </p:cNvPicPr>
          <p:nvPr/>
        </p:nvPicPr>
        <p:blipFill>
          <a:blip r:embed="rId4"/>
          <a:stretch>
            <a:fillRect/>
          </a:stretch>
        </p:blipFill>
        <p:spPr>
          <a:xfrm>
            <a:off x="36811768" y="783135"/>
            <a:ext cx="6192360" cy="4470420"/>
          </a:xfrm>
          <a:prstGeom prst="rect">
            <a:avLst/>
          </a:prstGeom>
        </p:spPr>
      </p:pic>
      <p:pic>
        <p:nvPicPr>
          <p:cNvPr id="24" name="Picture 23">
            <a:extLst>
              <a:ext uri="{FF2B5EF4-FFF2-40B4-BE49-F238E27FC236}">
                <a16:creationId xmlns:a16="http://schemas.microsoft.com/office/drawing/2014/main" id="{DE7B0611-878C-78B4-FF40-3A6C5B0DBD90}"/>
              </a:ext>
            </a:extLst>
          </p:cNvPr>
          <p:cNvPicPr>
            <a:picLocks noChangeAspect="1"/>
          </p:cNvPicPr>
          <p:nvPr/>
        </p:nvPicPr>
        <p:blipFill>
          <a:blip r:embed="rId5"/>
          <a:srcRect l="9976" r="1"/>
          <a:stretch>
            <a:fillRect/>
          </a:stretch>
        </p:blipFill>
        <p:spPr>
          <a:xfrm>
            <a:off x="1463040" y="22947138"/>
            <a:ext cx="6413909" cy="3873500"/>
          </a:xfrm>
          <a:prstGeom prst="rect">
            <a:avLst/>
          </a:prstGeom>
        </p:spPr>
      </p:pic>
      <p:pic>
        <p:nvPicPr>
          <p:cNvPr id="26" name="Picture 25">
            <a:extLst>
              <a:ext uri="{FF2B5EF4-FFF2-40B4-BE49-F238E27FC236}">
                <a16:creationId xmlns:a16="http://schemas.microsoft.com/office/drawing/2014/main" id="{498D1948-9F2D-3EE8-5871-5175ECDEA1F8}"/>
              </a:ext>
            </a:extLst>
          </p:cNvPr>
          <p:cNvPicPr>
            <a:picLocks noChangeAspect="1"/>
          </p:cNvPicPr>
          <p:nvPr/>
        </p:nvPicPr>
        <p:blipFill>
          <a:blip r:embed="rId6"/>
          <a:stretch>
            <a:fillRect/>
          </a:stretch>
        </p:blipFill>
        <p:spPr>
          <a:xfrm>
            <a:off x="8388275" y="22992028"/>
            <a:ext cx="6413909" cy="3747735"/>
          </a:xfrm>
          <a:prstGeom prst="rect">
            <a:avLst/>
          </a:prstGeom>
        </p:spPr>
      </p:pic>
      <p:sp>
        <p:nvSpPr>
          <p:cNvPr id="27" name="object 23">
            <a:extLst>
              <a:ext uri="{FF2B5EF4-FFF2-40B4-BE49-F238E27FC236}">
                <a16:creationId xmlns:a16="http://schemas.microsoft.com/office/drawing/2014/main" id="{2A282159-EC45-352B-5D3E-D093DFF46214}"/>
              </a:ext>
            </a:extLst>
          </p:cNvPr>
          <p:cNvSpPr>
            <a:spLocks noGrp="1"/>
          </p:cNvSpPr>
          <p:nvPr/>
        </p:nvSpPr>
        <p:spPr>
          <a:xfrm>
            <a:off x="15482358" y="8508277"/>
            <a:ext cx="13024910" cy="5947763"/>
          </a:xfrm>
          <a:custGeom>
            <a:avLst/>
            <a:gdLst/>
            <a:ahLst/>
            <a:cxnLst/>
            <a:rect l="l" t="t" r="r" b="b"/>
            <a:pathLst>
              <a:path w="4432934" h="78740">
                <a:moveTo>
                  <a:pt x="4432674" y="0"/>
                </a:moveTo>
                <a:lnTo>
                  <a:pt x="0" y="0"/>
                </a:lnTo>
                <a:lnTo>
                  <a:pt x="0" y="78182"/>
                </a:lnTo>
                <a:lnTo>
                  <a:pt x="4432674" y="78182"/>
                </a:lnTo>
                <a:lnTo>
                  <a:pt x="4432674" y="0"/>
                </a:lnTo>
                <a:close/>
              </a:path>
            </a:pathLst>
          </a:custGeom>
          <a:solidFill>
            <a:schemeClr val="accent1"/>
          </a:solidFill>
        </p:spPr>
        <p:txBody>
          <a:bodyPr wrap="square" lIns="0" tIns="0" rIns="0" bIns="0"/>
          <a:lstStyle/>
          <a:p>
            <a:endParaRPr/>
          </a:p>
        </p:txBody>
      </p:sp>
      <p:sp>
        <p:nvSpPr>
          <p:cNvPr id="28" name="object 20">
            <a:extLst>
              <a:ext uri="{FF2B5EF4-FFF2-40B4-BE49-F238E27FC236}">
                <a16:creationId xmlns:a16="http://schemas.microsoft.com/office/drawing/2014/main" id="{18962CB0-97BD-00A8-AF15-0399E543840C}"/>
              </a:ext>
            </a:extLst>
          </p:cNvPr>
          <p:cNvSpPr>
            <a:spLocks noGrp="1"/>
          </p:cNvSpPr>
          <p:nvPr/>
        </p:nvSpPr>
        <p:spPr>
          <a:xfrm>
            <a:off x="16051877" y="10919885"/>
            <a:ext cx="11948417" cy="2790328"/>
          </a:xfrm>
          <a:prstGeom prst="rect">
            <a:avLst/>
          </a:prstGeom>
        </p:spPr>
        <p:txBody>
          <a:bodyPr vert="horz" wrap="square" lIns="0" tIns="20142" rIns="0" bIns="0">
            <a:spAutoFit/>
          </a:bodyPr>
          <a:lstStyle/>
          <a:p>
            <a:pPr marR="10742" algn="just">
              <a:lnSpc>
                <a:spcPts val="3591"/>
              </a:lnSpc>
              <a:spcBef>
                <a:spcPts val="2167"/>
              </a:spcBef>
              <a:buNone/>
            </a:pPr>
            <a:r>
              <a:rPr lang="en-US" sz="3100" dirty="0">
                <a:latin typeface="Franklin Gothic Medium"/>
                <a:ea typeface="Franklin Gothic Medium"/>
                <a:cs typeface="Franklin Gothic Medium"/>
              </a:rPr>
              <a:t>Many optimization problems are not amenable to gradient-based techniques. We develop algorithms for such applications using dynamical systems theory, computational statistics, and deep generative machine learning. For example, we can compute sensitivities of long-time averages of chaotic dynamical systems – addressing a historical challenge in controlling energetic fluid systems.</a:t>
            </a:r>
          </a:p>
        </p:txBody>
      </p:sp>
      <p:sp>
        <p:nvSpPr>
          <p:cNvPr id="29" name="object 20">
            <a:extLst>
              <a:ext uri="{FF2B5EF4-FFF2-40B4-BE49-F238E27FC236}">
                <a16:creationId xmlns:a16="http://schemas.microsoft.com/office/drawing/2014/main" id="{C04F1E14-77C7-37BA-DF5D-063E1E495803}"/>
              </a:ext>
            </a:extLst>
          </p:cNvPr>
          <p:cNvSpPr>
            <a:spLocks noGrp="1"/>
          </p:cNvSpPr>
          <p:nvPr/>
        </p:nvSpPr>
        <p:spPr>
          <a:xfrm>
            <a:off x="16051876" y="8876410"/>
            <a:ext cx="11948418" cy="1866998"/>
          </a:xfrm>
          <a:prstGeom prst="rect">
            <a:avLst/>
          </a:prstGeom>
        </p:spPr>
        <p:txBody>
          <a:bodyPr vert="horz" wrap="square" lIns="0" tIns="20142" rIns="0" bIns="0">
            <a:spAutoFit/>
          </a:bodyPr>
          <a:lstStyle/>
          <a:p>
            <a:pPr marL="26856" algn="l">
              <a:spcBef>
                <a:spcPts val="10"/>
              </a:spcBef>
              <a:buNone/>
            </a:pPr>
            <a:r>
              <a:rPr lang="en-US" sz="6000" b="1" dirty="0">
                <a:latin typeface="Franklin Gothic Demi Cond"/>
                <a:ea typeface="Franklin Gothic Demi Cond"/>
                <a:cs typeface="Franklin Gothic Demi Cond"/>
              </a:rPr>
              <a:t>Solving challenging optimization problems accurately and efficiently</a:t>
            </a:r>
            <a:endParaRPr sz="6000" b="1" dirty="0">
              <a:latin typeface="Franklin Gothic Demi Cond"/>
              <a:ea typeface="Franklin Gothic Demi Cond"/>
              <a:cs typeface="Franklin Gothic Demi Cond"/>
            </a:endParaRPr>
          </a:p>
        </p:txBody>
      </p:sp>
      <p:sp>
        <p:nvSpPr>
          <p:cNvPr id="32" name="object 20">
            <a:extLst>
              <a:ext uri="{FF2B5EF4-FFF2-40B4-BE49-F238E27FC236}">
                <a16:creationId xmlns:a16="http://schemas.microsoft.com/office/drawing/2014/main" id="{1D6B182D-DF48-B36B-67D0-093CA4E8E78A}"/>
              </a:ext>
            </a:extLst>
          </p:cNvPr>
          <p:cNvSpPr>
            <a:spLocks noGrp="1"/>
          </p:cNvSpPr>
          <p:nvPr/>
        </p:nvSpPr>
        <p:spPr>
          <a:xfrm>
            <a:off x="1463040" y="27483498"/>
            <a:ext cx="13497444" cy="1738758"/>
          </a:xfrm>
          <a:prstGeom prst="rect">
            <a:avLst/>
          </a:prstGeom>
        </p:spPr>
        <p:txBody>
          <a:bodyPr vert="horz" wrap="square" lIns="0" tIns="20142" rIns="0" bIns="0">
            <a:spAutoFit/>
          </a:bodyPr>
          <a:lstStyle/>
          <a:p>
            <a:pPr marL="26856" marR="276616" algn="just">
              <a:spcBef>
                <a:spcPts val="159"/>
              </a:spcBef>
              <a:buNone/>
            </a:pPr>
            <a:r>
              <a:rPr lang="en-US" sz="2200" i="1" dirty="0">
                <a:solidFill>
                  <a:schemeClr val="bg1">
                    <a:lumMod val="50000"/>
                  </a:schemeClr>
                </a:solidFill>
                <a:latin typeface="Franklin Gothic Medium"/>
                <a:ea typeface="Franklin Gothic Medium"/>
                <a:cs typeface="Franklin Gothic Medium"/>
              </a:rPr>
              <a:t>Kim, </a:t>
            </a:r>
            <a:r>
              <a:rPr lang="en-US" sz="2200" i="1" dirty="0" err="1">
                <a:solidFill>
                  <a:schemeClr val="bg1">
                    <a:lumMod val="50000"/>
                  </a:schemeClr>
                </a:solidFill>
                <a:latin typeface="Franklin Gothic Medium"/>
                <a:ea typeface="Franklin Gothic Medium"/>
                <a:cs typeface="Franklin Gothic Medium"/>
              </a:rPr>
              <a:t>Hojin</a:t>
            </a:r>
            <a:r>
              <a:rPr lang="en-US" sz="2200" i="1" dirty="0">
                <a:solidFill>
                  <a:schemeClr val="bg1">
                    <a:lumMod val="50000"/>
                  </a:schemeClr>
                </a:solidFill>
                <a:latin typeface="Franklin Gothic Medium"/>
                <a:ea typeface="Franklin Gothic Medium"/>
                <a:cs typeface="Franklin Gothic Medium"/>
              </a:rPr>
              <a:t>, et al. "Multiscale Hypersonic Boundary Layer Reconstruction via Spectral Binning and Subdomain-wise Conditional Diffusion." </a:t>
            </a:r>
            <a:r>
              <a:rPr lang="en-US" sz="2200" i="1" dirty="0" err="1">
                <a:solidFill>
                  <a:schemeClr val="bg1">
                    <a:lumMod val="50000"/>
                  </a:schemeClr>
                </a:solidFill>
                <a:latin typeface="Franklin Gothic Medium"/>
                <a:ea typeface="Franklin Gothic Medium"/>
                <a:cs typeface="Franklin Gothic Medium"/>
              </a:rPr>
              <a:t>arXiv</a:t>
            </a:r>
            <a:r>
              <a:rPr lang="en-US" sz="2200" i="1" dirty="0">
                <a:solidFill>
                  <a:schemeClr val="bg1">
                    <a:lumMod val="50000"/>
                  </a:schemeClr>
                </a:solidFill>
                <a:latin typeface="Franklin Gothic Medium"/>
                <a:ea typeface="Franklin Gothic Medium"/>
                <a:cs typeface="Franklin Gothic Medium"/>
              </a:rPr>
              <a:t> preprint arXiv:2606.15023 (2026).</a:t>
            </a:r>
          </a:p>
          <a:p>
            <a:pPr marL="26856" marR="276616" algn="just">
              <a:spcBef>
                <a:spcPts val="159"/>
              </a:spcBef>
              <a:buNone/>
            </a:pPr>
            <a:r>
              <a:rPr lang="en-US" sz="2200" i="1" dirty="0">
                <a:solidFill>
                  <a:schemeClr val="bg1">
                    <a:lumMod val="50000"/>
                  </a:schemeClr>
                </a:solidFill>
                <a:latin typeface="Franklin Gothic Medium"/>
                <a:ea typeface="Franklin Gothic Medium"/>
                <a:cs typeface="Franklin Gothic Medium"/>
              </a:rPr>
              <a:t>Guan, </a:t>
            </a:r>
            <a:r>
              <a:rPr lang="en-US" sz="2200" i="1" dirty="0" err="1">
                <a:solidFill>
                  <a:schemeClr val="bg1">
                    <a:lumMod val="50000"/>
                  </a:schemeClr>
                </a:solidFill>
                <a:latin typeface="Franklin Gothic Medium"/>
                <a:ea typeface="Franklin Gothic Medium"/>
                <a:cs typeface="Franklin Gothic Medium"/>
              </a:rPr>
              <a:t>Haiwen</a:t>
            </a:r>
            <a:r>
              <a:rPr lang="en-US" sz="2200" i="1" dirty="0">
                <a:solidFill>
                  <a:schemeClr val="bg1">
                    <a:lumMod val="50000"/>
                  </a:schemeClr>
                </a:solidFill>
                <a:latin typeface="Franklin Gothic Medium"/>
                <a:ea typeface="Franklin Gothic Medium"/>
                <a:cs typeface="Franklin Gothic Medium"/>
              </a:rPr>
              <a:t>, et al. "High‐resolution downscaling of a lightweight climate emulator using diffusion‐based super‐resolution." Journal of Geophysical Research: Machine Learning and Computation 3.5 (2026): e2026JH001290.</a:t>
            </a:r>
            <a:endParaRPr sz="2200" i="1" dirty="0">
              <a:solidFill>
                <a:schemeClr val="bg1">
                  <a:lumMod val="50000"/>
                </a:schemeClr>
              </a:solidFill>
              <a:latin typeface="Franklin Gothic Medium"/>
              <a:ea typeface="Franklin Gothic Medium"/>
              <a:cs typeface="Franklin Gothic Medium"/>
            </a:endParaRPr>
          </a:p>
        </p:txBody>
      </p:sp>
      <p:sp>
        <p:nvSpPr>
          <p:cNvPr id="35" name="object 23">
            <a:extLst>
              <a:ext uri="{FF2B5EF4-FFF2-40B4-BE49-F238E27FC236}">
                <a16:creationId xmlns:a16="http://schemas.microsoft.com/office/drawing/2014/main" id="{F19AF9E0-51E1-60F5-13A5-1A2F85FDA8CA}"/>
              </a:ext>
            </a:extLst>
          </p:cNvPr>
          <p:cNvSpPr>
            <a:spLocks noGrp="1"/>
          </p:cNvSpPr>
          <p:nvPr/>
        </p:nvSpPr>
        <p:spPr>
          <a:xfrm>
            <a:off x="29425900" y="8508277"/>
            <a:ext cx="13024910" cy="5947763"/>
          </a:xfrm>
          <a:custGeom>
            <a:avLst/>
            <a:gdLst/>
            <a:ahLst/>
            <a:cxnLst/>
            <a:rect l="l" t="t" r="r" b="b"/>
            <a:pathLst>
              <a:path w="4432934" h="78740">
                <a:moveTo>
                  <a:pt x="4432674" y="0"/>
                </a:moveTo>
                <a:lnTo>
                  <a:pt x="0" y="0"/>
                </a:lnTo>
                <a:lnTo>
                  <a:pt x="0" y="78182"/>
                </a:lnTo>
                <a:lnTo>
                  <a:pt x="4432674" y="78182"/>
                </a:lnTo>
                <a:lnTo>
                  <a:pt x="4432674" y="0"/>
                </a:lnTo>
                <a:close/>
              </a:path>
            </a:pathLst>
          </a:custGeom>
          <a:solidFill>
            <a:schemeClr val="accent1"/>
          </a:solidFill>
        </p:spPr>
        <p:txBody>
          <a:bodyPr wrap="square" lIns="0" tIns="0" rIns="0" bIns="0"/>
          <a:lstStyle/>
          <a:p>
            <a:endParaRPr/>
          </a:p>
        </p:txBody>
      </p:sp>
      <p:sp>
        <p:nvSpPr>
          <p:cNvPr id="39" name="object 20">
            <a:extLst>
              <a:ext uri="{FF2B5EF4-FFF2-40B4-BE49-F238E27FC236}">
                <a16:creationId xmlns:a16="http://schemas.microsoft.com/office/drawing/2014/main" id="{0B4C5851-D21C-7348-7119-065A856854A7}"/>
              </a:ext>
            </a:extLst>
          </p:cNvPr>
          <p:cNvSpPr>
            <a:spLocks noGrp="1"/>
          </p:cNvSpPr>
          <p:nvPr/>
        </p:nvSpPr>
        <p:spPr>
          <a:xfrm>
            <a:off x="29995419" y="10919885"/>
            <a:ext cx="11948417" cy="2790328"/>
          </a:xfrm>
          <a:prstGeom prst="rect">
            <a:avLst/>
          </a:prstGeom>
        </p:spPr>
        <p:txBody>
          <a:bodyPr vert="horz" wrap="square" lIns="0" tIns="20142" rIns="0" bIns="0">
            <a:spAutoFit/>
          </a:bodyPr>
          <a:lstStyle/>
          <a:p>
            <a:pPr marR="10742" algn="just">
              <a:lnSpc>
                <a:spcPts val="3591"/>
              </a:lnSpc>
              <a:spcBef>
                <a:spcPts val="2167"/>
              </a:spcBef>
              <a:buNone/>
            </a:pPr>
            <a:r>
              <a:rPr lang="en-US" sz="3100" dirty="0">
                <a:latin typeface="Franklin Gothic Medium"/>
                <a:ea typeface="Franklin Gothic Medium"/>
                <a:cs typeface="Franklin Gothic Medium"/>
              </a:rPr>
              <a:t>While grand-challenge applications drive significant algorithm development in ISCL, we also perform fundamental research in novel paradigms for computing. Examples include quantum-inspired methods for optimization and for simulating partial differential equations, and open-source low-cost agentic AI geared towards resource-limited environments</a:t>
            </a:r>
          </a:p>
        </p:txBody>
      </p:sp>
      <p:sp>
        <p:nvSpPr>
          <p:cNvPr id="45" name="object 20">
            <a:extLst>
              <a:ext uri="{FF2B5EF4-FFF2-40B4-BE49-F238E27FC236}">
                <a16:creationId xmlns:a16="http://schemas.microsoft.com/office/drawing/2014/main" id="{44FF4D2A-E4B2-4FAF-FAB3-2990D3868644}"/>
              </a:ext>
            </a:extLst>
          </p:cNvPr>
          <p:cNvSpPr>
            <a:spLocks noGrp="1"/>
          </p:cNvSpPr>
          <p:nvPr/>
        </p:nvSpPr>
        <p:spPr>
          <a:xfrm>
            <a:off x="29995418" y="8876410"/>
            <a:ext cx="11948418" cy="1866998"/>
          </a:xfrm>
          <a:prstGeom prst="rect">
            <a:avLst/>
          </a:prstGeom>
        </p:spPr>
        <p:txBody>
          <a:bodyPr vert="horz" wrap="square" lIns="0" tIns="20142" rIns="0" bIns="0">
            <a:spAutoFit/>
          </a:bodyPr>
          <a:lstStyle/>
          <a:p>
            <a:pPr marL="26856" algn="l">
              <a:spcBef>
                <a:spcPts val="10"/>
              </a:spcBef>
              <a:buNone/>
            </a:pPr>
            <a:r>
              <a:rPr lang="en-US" sz="6000" b="1" dirty="0">
                <a:latin typeface="Franklin Gothic Demi Cond"/>
                <a:ea typeface="Franklin Gothic Demi Cond"/>
                <a:cs typeface="Franklin Gothic Demi Cond"/>
              </a:rPr>
              <a:t>Developing novel paradigms in scientific computing</a:t>
            </a:r>
            <a:endParaRPr sz="6000" b="1" dirty="0">
              <a:latin typeface="Franklin Gothic Demi Cond"/>
              <a:ea typeface="Franklin Gothic Demi Cond"/>
              <a:cs typeface="Franklin Gothic Demi Cond"/>
            </a:endParaRPr>
          </a:p>
        </p:txBody>
      </p:sp>
      <p:pic>
        <p:nvPicPr>
          <p:cNvPr id="46" name="Picture 45">
            <a:extLst>
              <a:ext uri="{FF2B5EF4-FFF2-40B4-BE49-F238E27FC236}">
                <a16:creationId xmlns:a16="http://schemas.microsoft.com/office/drawing/2014/main" id="{BBB1E34E-7BE1-9189-D35B-B3159553486D}"/>
              </a:ext>
            </a:extLst>
          </p:cNvPr>
          <p:cNvPicPr>
            <a:picLocks noChangeAspect="1"/>
          </p:cNvPicPr>
          <p:nvPr/>
        </p:nvPicPr>
        <p:blipFill>
          <a:blip r:embed="rId7"/>
          <a:stretch>
            <a:fillRect/>
          </a:stretch>
        </p:blipFill>
        <p:spPr>
          <a:xfrm>
            <a:off x="15482358" y="14680074"/>
            <a:ext cx="13484528" cy="4856986"/>
          </a:xfrm>
          <a:prstGeom prst="rect">
            <a:avLst/>
          </a:prstGeom>
        </p:spPr>
      </p:pic>
      <p:pic>
        <p:nvPicPr>
          <p:cNvPr id="48" name="Picture 47">
            <a:extLst>
              <a:ext uri="{FF2B5EF4-FFF2-40B4-BE49-F238E27FC236}">
                <a16:creationId xmlns:a16="http://schemas.microsoft.com/office/drawing/2014/main" id="{4A9E8C09-0E60-579C-276C-88F711F61816}"/>
              </a:ext>
            </a:extLst>
          </p:cNvPr>
          <p:cNvPicPr>
            <a:picLocks noChangeAspect="1"/>
          </p:cNvPicPr>
          <p:nvPr/>
        </p:nvPicPr>
        <p:blipFill>
          <a:blip r:embed="rId8"/>
          <a:stretch>
            <a:fillRect/>
          </a:stretch>
        </p:blipFill>
        <p:spPr>
          <a:xfrm>
            <a:off x="15213106" y="19537060"/>
            <a:ext cx="13653290" cy="5586452"/>
          </a:xfrm>
          <a:prstGeom prst="rect">
            <a:avLst/>
          </a:prstGeom>
        </p:spPr>
      </p:pic>
      <p:sp>
        <p:nvSpPr>
          <p:cNvPr id="49" name="object 20">
            <a:extLst>
              <a:ext uri="{FF2B5EF4-FFF2-40B4-BE49-F238E27FC236}">
                <a16:creationId xmlns:a16="http://schemas.microsoft.com/office/drawing/2014/main" id="{C6B475A9-8FEB-07ED-4A04-FFBF06BCB27F}"/>
              </a:ext>
            </a:extLst>
          </p:cNvPr>
          <p:cNvSpPr>
            <a:spLocks noGrp="1"/>
          </p:cNvSpPr>
          <p:nvPr/>
        </p:nvSpPr>
        <p:spPr>
          <a:xfrm>
            <a:off x="15368952" y="25694475"/>
            <a:ext cx="13497444" cy="1036001"/>
          </a:xfrm>
          <a:prstGeom prst="rect">
            <a:avLst/>
          </a:prstGeom>
        </p:spPr>
        <p:txBody>
          <a:bodyPr vert="horz" wrap="square" lIns="0" tIns="20142" rIns="0" bIns="0">
            <a:spAutoFit/>
          </a:bodyPr>
          <a:lstStyle/>
          <a:p>
            <a:pPr marL="26856" marR="276616" algn="just">
              <a:spcBef>
                <a:spcPts val="159"/>
              </a:spcBef>
              <a:buNone/>
            </a:pPr>
            <a:r>
              <a:rPr lang="en-US" sz="2200" i="1" dirty="0">
                <a:latin typeface="Franklin Gothic Medium"/>
                <a:ea typeface="Franklin Gothic Medium"/>
                <a:cs typeface="Franklin Gothic Medium"/>
              </a:rPr>
              <a:t>Optimal sensor placement for state-reconstruction of a turbulent unsteady flow over a backwards facing step. Sensors are dynamically adapted based on vortical structures, while guided by information content obtained from surrogate model sensitivities.</a:t>
            </a:r>
            <a:endParaRPr sz="2200" i="1" dirty="0">
              <a:latin typeface="Franklin Gothic Medium"/>
              <a:ea typeface="Franklin Gothic Medium"/>
              <a:cs typeface="Franklin Gothic Medium"/>
            </a:endParaRPr>
          </a:p>
        </p:txBody>
      </p:sp>
      <p:sp>
        <p:nvSpPr>
          <p:cNvPr id="50" name="object 20">
            <a:extLst>
              <a:ext uri="{FF2B5EF4-FFF2-40B4-BE49-F238E27FC236}">
                <a16:creationId xmlns:a16="http://schemas.microsoft.com/office/drawing/2014/main" id="{D37AC016-A525-13E9-80AD-A7E79C2B950A}"/>
              </a:ext>
            </a:extLst>
          </p:cNvPr>
          <p:cNvSpPr>
            <a:spLocks noGrp="1"/>
          </p:cNvSpPr>
          <p:nvPr/>
        </p:nvSpPr>
        <p:spPr>
          <a:xfrm>
            <a:off x="15368952" y="27493549"/>
            <a:ext cx="13497444" cy="1400204"/>
          </a:xfrm>
          <a:prstGeom prst="rect">
            <a:avLst/>
          </a:prstGeom>
        </p:spPr>
        <p:txBody>
          <a:bodyPr vert="horz" wrap="square" lIns="0" tIns="20142" rIns="0" bIns="0">
            <a:spAutoFit/>
          </a:bodyPr>
          <a:lstStyle/>
          <a:p>
            <a:pPr marL="26856" marR="276616" algn="just">
              <a:spcBef>
                <a:spcPts val="159"/>
              </a:spcBef>
              <a:buNone/>
            </a:pPr>
            <a:r>
              <a:rPr lang="en-US" sz="2200" i="1" dirty="0">
                <a:solidFill>
                  <a:schemeClr val="bg1">
                    <a:lumMod val="50000"/>
                  </a:schemeClr>
                </a:solidFill>
                <a:latin typeface="Franklin Gothic Medium"/>
                <a:ea typeface="Franklin Gothic Medium"/>
                <a:cs typeface="Franklin Gothic Medium"/>
              </a:rPr>
              <a:t>Kim, </a:t>
            </a:r>
            <a:r>
              <a:rPr lang="en-US" sz="2200" i="1" dirty="0" err="1">
                <a:solidFill>
                  <a:schemeClr val="bg1">
                    <a:lumMod val="50000"/>
                  </a:schemeClr>
                </a:solidFill>
                <a:latin typeface="Franklin Gothic Medium"/>
                <a:ea typeface="Franklin Gothic Medium"/>
                <a:cs typeface="Franklin Gothic Medium"/>
              </a:rPr>
              <a:t>Hojin</a:t>
            </a:r>
            <a:r>
              <a:rPr lang="en-US" sz="2200" i="1" dirty="0">
                <a:solidFill>
                  <a:schemeClr val="bg1">
                    <a:lumMod val="50000"/>
                  </a:schemeClr>
                </a:solidFill>
                <a:latin typeface="Franklin Gothic Medium"/>
                <a:ea typeface="Franklin Gothic Medium"/>
                <a:cs typeface="Franklin Gothic Medium"/>
              </a:rPr>
              <a:t>, and Romit Maulik. "Interpretable Diagnostics and Adaptive Data Assimilation for Neural ODEs via Discrete Empirical Interpolation." </a:t>
            </a:r>
            <a:r>
              <a:rPr lang="en-US" sz="2200" i="1" dirty="0" err="1">
                <a:solidFill>
                  <a:schemeClr val="bg1">
                    <a:lumMod val="50000"/>
                  </a:schemeClr>
                </a:solidFill>
                <a:latin typeface="Franklin Gothic Medium"/>
                <a:ea typeface="Franklin Gothic Medium"/>
                <a:cs typeface="Franklin Gothic Medium"/>
              </a:rPr>
              <a:t>arXiv</a:t>
            </a:r>
            <a:r>
              <a:rPr lang="en-US" sz="2200" i="1" dirty="0">
                <a:solidFill>
                  <a:schemeClr val="bg1">
                    <a:lumMod val="50000"/>
                  </a:schemeClr>
                </a:solidFill>
                <a:latin typeface="Franklin Gothic Medium"/>
                <a:ea typeface="Franklin Gothic Medium"/>
                <a:cs typeface="Franklin Gothic Medium"/>
              </a:rPr>
              <a:t> preprint arXiv:2510.21852 (2025).</a:t>
            </a:r>
          </a:p>
          <a:p>
            <a:pPr marL="26856" marR="276616" algn="just">
              <a:spcBef>
                <a:spcPts val="159"/>
              </a:spcBef>
              <a:buNone/>
            </a:pPr>
            <a:r>
              <a:rPr lang="en-US" sz="2200" i="1" dirty="0" err="1">
                <a:solidFill>
                  <a:schemeClr val="bg1">
                    <a:lumMod val="50000"/>
                  </a:schemeClr>
                </a:solidFill>
                <a:latin typeface="Franklin Gothic Medium"/>
                <a:ea typeface="Franklin Gothic Medium"/>
                <a:cs typeface="Franklin Gothic Medium"/>
              </a:rPr>
              <a:t>Barwey</a:t>
            </a:r>
            <a:r>
              <a:rPr lang="en-US" sz="2200" i="1" dirty="0">
                <a:solidFill>
                  <a:schemeClr val="bg1">
                    <a:lumMod val="50000"/>
                  </a:schemeClr>
                </a:solidFill>
                <a:latin typeface="Franklin Gothic Medium"/>
                <a:ea typeface="Franklin Gothic Medium"/>
                <a:cs typeface="Franklin Gothic Medium"/>
              </a:rPr>
              <a:t>, Shivam, </a:t>
            </a:r>
            <a:r>
              <a:rPr lang="en-US" sz="2200" i="1" dirty="0" err="1">
                <a:solidFill>
                  <a:schemeClr val="bg1">
                    <a:lumMod val="50000"/>
                  </a:schemeClr>
                </a:solidFill>
                <a:latin typeface="Franklin Gothic Medium"/>
                <a:ea typeface="Franklin Gothic Medium"/>
                <a:cs typeface="Franklin Gothic Medium"/>
              </a:rPr>
              <a:t>Hojin</a:t>
            </a:r>
            <a:r>
              <a:rPr lang="en-US" sz="2200" i="1" dirty="0">
                <a:solidFill>
                  <a:schemeClr val="bg1">
                    <a:lumMod val="50000"/>
                  </a:schemeClr>
                </a:solidFill>
                <a:latin typeface="Franklin Gothic Medium"/>
                <a:ea typeface="Franklin Gothic Medium"/>
                <a:cs typeface="Franklin Gothic Medium"/>
              </a:rPr>
              <a:t> Kim, and Romit Maulik. "Interpretable A-posteriori error indication for graph neural network surrogate models." Computer Methods in Applied Mechanics and Engineering 433 (2025): 117509.</a:t>
            </a:r>
            <a:endParaRPr sz="2200" i="1" dirty="0">
              <a:solidFill>
                <a:schemeClr val="bg1">
                  <a:lumMod val="50000"/>
                </a:schemeClr>
              </a:solidFill>
              <a:latin typeface="Franklin Gothic Medium"/>
              <a:ea typeface="Franklin Gothic Medium"/>
              <a:cs typeface="Franklin Gothic Medium"/>
            </a:endParaRPr>
          </a:p>
        </p:txBody>
      </p:sp>
      <p:pic>
        <p:nvPicPr>
          <p:cNvPr id="51" name="Picture 50">
            <a:extLst>
              <a:ext uri="{FF2B5EF4-FFF2-40B4-BE49-F238E27FC236}">
                <a16:creationId xmlns:a16="http://schemas.microsoft.com/office/drawing/2014/main" id="{A476309F-F723-3DDD-A0D8-B98C37D48CF0}"/>
              </a:ext>
            </a:extLst>
          </p:cNvPr>
          <p:cNvPicPr>
            <a:picLocks noChangeAspect="1"/>
          </p:cNvPicPr>
          <p:nvPr/>
        </p:nvPicPr>
        <p:blipFill>
          <a:blip r:embed="rId9"/>
          <a:stretch>
            <a:fillRect/>
          </a:stretch>
        </p:blipFill>
        <p:spPr>
          <a:xfrm>
            <a:off x="29995418" y="19679915"/>
            <a:ext cx="11372800" cy="6203341"/>
          </a:xfrm>
          <a:prstGeom prst="rect">
            <a:avLst/>
          </a:prstGeom>
        </p:spPr>
      </p:pic>
      <p:sp>
        <p:nvSpPr>
          <p:cNvPr id="63" name="Rectangle 62">
            <a:extLst>
              <a:ext uri="{FF2B5EF4-FFF2-40B4-BE49-F238E27FC236}">
                <a16:creationId xmlns:a16="http://schemas.microsoft.com/office/drawing/2014/main" id="{FD72A5C5-F71E-D2DC-3573-7781E4160118}"/>
              </a:ext>
            </a:extLst>
          </p:cNvPr>
          <p:cNvSpPr/>
          <p:nvPr/>
        </p:nvSpPr>
        <p:spPr>
          <a:xfrm>
            <a:off x="31724485" y="14675990"/>
            <a:ext cx="904327" cy="8571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5" name="Picture 64">
            <a:extLst>
              <a:ext uri="{FF2B5EF4-FFF2-40B4-BE49-F238E27FC236}">
                <a16:creationId xmlns:a16="http://schemas.microsoft.com/office/drawing/2014/main" id="{1D41ECD6-44DE-65F5-644F-CB00D8FBFB59}"/>
              </a:ext>
            </a:extLst>
          </p:cNvPr>
          <p:cNvPicPr>
            <a:picLocks noChangeAspect="1"/>
          </p:cNvPicPr>
          <p:nvPr/>
        </p:nvPicPr>
        <p:blipFill>
          <a:blip r:embed="rId10"/>
          <a:stretch>
            <a:fillRect/>
          </a:stretch>
        </p:blipFill>
        <p:spPr>
          <a:xfrm>
            <a:off x="29425900" y="14516737"/>
            <a:ext cx="13359577" cy="5131773"/>
          </a:xfrm>
          <a:prstGeom prst="rect">
            <a:avLst/>
          </a:prstGeom>
        </p:spPr>
      </p:pic>
      <p:sp>
        <p:nvSpPr>
          <p:cNvPr id="66" name="object 20">
            <a:extLst>
              <a:ext uri="{FF2B5EF4-FFF2-40B4-BE49-F238E27FC236}">
                <a16:creationId xmlns:a16="http://schemas.microsoft.com/office/drawing/2014/main" id="{B76B00FB-CD0B-0F08-A597-0A31DDE84963}"/>
              </a:ext>
            </a:extLst>
          </p:cNvPr>
          <p:cNvSpPr>
            <a:spLocks noGrp="1"/>
          </p:cNvSpPr>
          <p:nvPr/>
        </p:nvSpPr>
        <p:spPr>
          <a:xfrm>
            <a:off x="29506684" y="26009958"/>
            <a:ext cx="13497444" cy="1036001"/>
          </a:xfrm>
          <a:prstGeom prst="rect">
            <a:avLst/>
          </a:prstGeom>
        </p:spPr>
        <p:txBody>
          <a:bodyPr vert="horz" wrap="square" lIns="0" tIns="20142" rIns="0" bIns="0">
            <a:spAutoFit/>
          </a:bodyPr>
          <a:lstStyle/>
          <a:p>
            <a:pPr marL="26856" marR="276616" algn="just">
              <a:spcBef>
                <a:spcPts val="159"/>
              </a:spcBef>
              <a:buNone/>
            </a:pPr>
            <a:r>
              <a:rPr lang="en-US" sz="2200" i="1" dirty="0">
                <a:latin typeface="Franklin Gothic Medium"/>
                <a:ea typeface="Franklin Gothic Medium"/>
                <a:cs typeface="Franklin Gothic Medium"/>
              </a:rPr>
              <a:t>Quantum reservoir computers can be used for efficient approximations of dynamical systems (top, figure from Tran and Nakajima, 2020). Agentic workflows built on open-source, quantized, vision language models can be used for automation and decision making without access to the internet or substantial hardware (bottom).</a:t>
            </a:r>
            <a:endParaRPr sz="2200" i="1" dirty="0">
              <a:latin typeface="Franklin Gothic Medium"/>
              <a:ea typeface="Franklin Gothic Medium"/>
              <a:cs typeface="Franklin Gothic Medium"/>
            </a:endParaRPr>
          </a:p>
        </p:txBody>
      </p:sp>
      <p:sp>
        <p:nvSpPr>
          <p:cNvPr id="67" name="object 20">
            <a:extLst>
              <a:ext uri="{FF2B5EF4-FFF2-40B4-BE49-F238E27FC236}">
                <a16:creationId xmlns:a16="http://schemas.microsoft.com/office/drawing/2014/main" id="{B49F1EC4-BAF0-6CA7-E598-828819176F61}"/>
              </a:ext>
            </a:extLst>
          </p:cNvPr>
          <p:cNvSpPr>
            <a:spLocks noGrp="1"/>
          </p:cNvSpPr>
          <p:nvPr/>
        </p:nvSpPr>
        <p:spPr>
          <a:xfrm>
            <a:off x="29356966" y="27483498"/>
            <a:ext cx="13497444" cy="1400204"/>
          </a:xfrm>
          <a:prstGeom prst="rect">
            <a:avLst/>
          </a:prstGeom>
        </p:spPr>
        <p:txBody>
          <a:bodyPr vert="horz" wrap="square" lIns="0" tIns="20142" rIns="0" bIns="0">
            <a:spAutoFit/>
          </a:bodyPr>
          <a:lstStyle/>
          <a:p>
            <a:pPr marL="26856" marR="276616" algn="just">
              <a:spcBef>
                <a:spcPts val="159"/>
              </a:spcBef>
              <a:buNone/>
            </a:pPr>
            <a:r>
              <a:rPr lang="en-US" sz="2200" i="1" dirty="0">
                <a:solidFill>
                  <a:schemeClr val="bg1">
                    <a:lumMod val="50000"/>
                  </a:schemeClr>
                </a:solidFill>
                <a:latin typeface="Franklin Gothic Medium"/>
                <a:ea typeface="Franklin Gothic Medium"/>
                <a:cs typeface="Franklin Gothic Medium"/>
              </a:rPr>
              <a:t>Jain, Vinamr, and Romit Maulik. "Higher order quantum reservoir computing for non-intrusive reduced-order models." AIAA SCITECH 2026 Forum. 2026.</a:t>
            </a:r>
          </a:p>
          <a:p>
            <a:pPr marL="26856" marR="276616" algn="just">
              <a:spcBef>
                <a:spcPts val="159"/>
              </a:spcBef>
              <a:buNone/>
            </a:pPr>
            <a:r>
              <a:rPr lang="en-US" sz="2200" i="1" dirty="0">
                <a:solidFill>
                  <a:schemeClr val="bg1">
                    <a:lumMod val="50000"/>
                  </a:schemeClr>
                </a:solidFill>
                <a:latin typeface="Franklin Gothic Medium"/>
                <a:ea typeface="Franklin Gothic Medium"/>
                <a:cs typeface="Franklin Gothic Medium"/>
              </a:rPr>
              <a:t>Team, Gemma, et al. "Gemma: Open models based on </a:t>
            </a:r>
            <a:r>
              <a:rPr lang="en-US" sz="2200" i="1" dirty="0" err="1">
                <a:solidFill>
                  <a:schemeClr val="bg1">
                    <a:lumMod val="50000"/>
                  </a:schemeClr>
                </a:solidFill>
                <a:latin typeface="Franklin Gothic Medium"/>
                <a:ea typeface="Franklin Gothic Medium"/>
                <a:cs typeface="Franklin Gothic Medium"/>
              </a:rPr>
              <a:t>gemini</a:t>
            </a:r>
            <a:r>
              <a:rPr lang="en-US" sz="2200" i="1" dirty="0">
                <a:solidFill>
                  <a:schemeClr val="bg1">
                    <a:lumMod val="50000"/>
                  </a:schemeClr>
                </a:solidFill>
                <a:latin typeface="Franklin Gothic Medium"/>
                <a:ea typeface="Franklin Gothic Medium"/>
                <a:cs typeface="Franklin Gothic Medium"/>
              </a:rPr>
              <a:t> research and technology." </a:t>
            </a:r>
            <a:r>
              <a:rPr lang="en-US" sz="2200" i="1" dirty="0" err="1">
                <a:solidFill>
                  <a:schemeClr val="bg1">
                    <a:lumMod val="50000"/>
                  </a:schemeClr>
                </a:solidFill>
                <a:latin typeface="Franklin Gothic Medium"/>
                <a:ea typeface="Franklin Gothic Medium"/>
                <a:cs typeface="Franklin Gothic Medium"/>
              </a:rPr>
              <a:t>arXiv</a:t>
            </a:r>
            <a:r>
              <a:rPr lang="en-US" sz="2200" i="1" dirty="0">
                <a:solidFill>
                  <a:schemeClr val="bg1">
                    <a:lumMod val="50000"/>
                  </a:schemeClr>
                </a:solidFill>
                <a:latin typeface="Franklin Gothic Medium"/>
                <a:ea typeface="Franklin Gothic Medium"/>
                <a:cs typeface="Franklin Gothic Medium"/>
              </a:rPr>
              <a:t> preprint arXiv:2403.08295 (2024).</a:t>
            </a:r>
            <a:endParaRPr sz="2200" i="1" dirty="0">
              <a:solidFill>
                <a:schemeClr val="bg1">
                  <a:lumMod val="50000"/>
                </a:schemeClr>
              </a:solidFill>
              <a:latin typeface="Franklin Gothic Medium"/>
              <a:ea typeface="Franklin Gothic Medium"/>
              <a:cs typeface="Franklin Gothic Medium"/>
            </a:endParaRPr>
          </a:p>
        </p:txBody>
      </p:sp>
      <p:pic>
        <p:nvPicPr>
          <p:cNvPr id="68" name="Picture 67" descr="United States Department of Energy - Wikipedia">
            <a:extLst>
              <a:ext uri="{FF2B5EF4-FFF2-40B4-BE49-F238E27FC236}">
                <a16:creationId xmlns:a16="http://schemas.microsoft.com/office/drawing/2014/main" id="{985166C4-5DBA-4180-BB50-F395CF76E231}"/>
              </a:ext>
            </a:extLst>
          </p:cNvPr>
          <p:cNvPicPr>
            <a:picLocks noChangeAspect="1"/>
          </p:cNvPicPr>
          <p:nvPr/>
        </p:nvPicPr>
        <p:blipFill>
          <a:blip r:embed="rId11"/>
          <a:stretch>
            <a:fillRect/>
          </a:stretch>
        </p:blipFill>
        <p:spPr>
          <a:xfrm>
            <a:off x="1509962" y="29472823"/>
            <a:ext cx="3127355" cy="3127355"/>
          </a:xfrm>
          <a:prstGeom prst="rect">
            <a:avLst/>
          </a:prstGeom>
        </p:spPr>
      </p:pic>
      <p:pic>
        <p:nvPicPr>
          <p:cNvPr id="70" name="Picture 69" descr="File:NASA Wormball logo.svg - Wikimedia Commons">
            <a:extLst>
              <a:ext uri="{FF2B5EF4-FFF2-40B4-BE49-F238E27FC236}">
                <a16:creationId xmlns:a16="http://schemas.microsoft.com/office/drawing/2014/main" id="{80DBE1C6-0804-2E79-3597-CD3FAF69CFFF}"/>
              </a:ext>
            </a:extLst>
          </p:cNvPr>
          <p:cNvPicPr>
            <a:picLocks noChangeAspect="1"/>
          </p:cNvPicPr>
          <p:nvPr/>
        </p:nvPicPr>
        <p:blipFill>
          <a:blip r:embed="rId12"/>
          <a:stretch>
            <a:fillRect/>
          </a:stretch>
        </p:blipFill>
        <p:spPr>
          <a:xfrm>
            <a:off x="4351277" y="28883702"/>
            <a:ext cx="4338048" cy="4338048"/>
          </a:xfrm>
          <a:prstGeom prst="rect">
            <a:avLst/>
          </a:prstGeom>
        </p:spPr>
      </p:pic>
      <p:pic>
        <p:nvPicPr>
          <p:cNvPr id="71" name="Picture 70" descr="Army Research Office - Wikipedia">
            <a:extLst>
              <a:ext uri="{FF2B5EF4-FFF2-40B4-BE49-F238E27FC236}">
                <a16:creationId xmlns:a16="http://schemas.microsoft.com/office/drawing/2014/main" id="{57B386C4-D9A2-01DB-B6D5-591DFD51FF41}"/>
              </a:ext>
            </a:extLst>
          </p:cNvPr>
          <p:cNvPicPr>
            <a:picLocks noChangeAspect="1"/>
          </p:cNvPicPr>
          <p:nvPr/>
        </p:nvPicPr>
        <p:blipFill>
          <a:blip r:embed="rId13"/>
          <a:stretch>
            <a:fillRect/>
          </a:stretch>
        </p:blipFill>
        <p:spPr>
          <a:xfrm>
            <a:off x="8461718" y="29435948"/>
            <a:ext cx="3164230" cy="3164230"/>
          </a:xfrm>
          <a:prstGeom prst="rect">
            <a:avLst/>
          </a:prstGeom>
        </p:spPr>
      </p:pic>
      <p:pic>
        <p:nvPicPr>
          <p:cNvPr id="72" name="Picture 71">
            <a:extLst>
              <a:ext uri="{FF2B5EF4-FFF2-40B4-BE49-F238E27FC236}">
                <a16:creationId xmlns:a16="http://schemas.microsoft.com/office/drawing/2014/main" id="{42C1FE40-83B0-B943-576E-DDBF0CC2590D}"/>
              </a:ext>
            </a:extLst>
          </p:cNvPr>
          <p:cNvPicPr>
            <a:picLocks noChangeAspect="1"/>
          </p:cNvPicPr>
          <p:nvPr/>
        </p:nvPicPr>
        <p:blipFill>
          <a:blip r:embed="rId14"/>
          <a:stretch>
            <a:fillRect/>
          </a:stretch>
        </p:blipFill>
        <p:spPr>
          <a:xfrm>
            <a:off x="11667567" y="29503002"/>
            <a:ext cx="5558528" cy="3137879"/>
          </a:xfrm>
          <a:prstGeom prst="rect">
            <a:avLst/>
          </a:prstGeom>
        </p:spPr>
      </p:pic>
      <p:pic>
        <p:nvPicPr>
          <p:cNvPr id="74" name="Picture 73">
            <a:extLst>
              <a:ext uri="{FF2B5EF4-FFF2-40B4-BE49-F238E27FC236}">
                <a16:creationId xmlns:a16="http://schemas.microsoft.com/office/drawing/2014/main" id="{18DB8C01-2FD7-604D-1304-AB9F50A0502D}"/>
              </a:ext>
            </a:extLst>
          </p:cNvPr>
          <p:cNvPicPr>
            <a:picLocks noChangeAspect="1"/>
          </p:cNvPicPr>
          <p:nvPr/>
        </p:nvPicPr>
        <p:blipFill>
          <a:blip r:embed="rId15"/>
          <a:stretch>
            <a:fillRect/>
          </a:stretch>
        </p:blipFill>
        <p:spPr>
          <a:xfrm>
            <a:off x="20098710" y="29917439"/>
            <a:ext cx="6921390" cy="2144968"/>
          </a:xfrm>
          <a:prstGeom prst="rect">
            <a:avLst/>
          </a:prstGeom>
        </p:spPr>
      </p:pic>
      <p:pic>
        <p:nvPicPr>
          <p:cNvPr id="73" name="Picture 72">
            <a:extLst>
              <a:ext uri="{FF2B5EF4-FFF2-40B4-BE49-F238E27FC236}">
                <a16:creationId xmlns:a16="http://schemas.microsoft.com/office/drawing/2014/main" id="{F1B1B3B8-79ED-72CD-68E3-7DF336949A30}"/>
              </a:ext>
            </a:extLst>
          </p:cNvPr>
          <p:cNvPicPr>
            <a:picLocks noChangeAspect="1"/>
          </p:cNvPicPr>
          <p:nvPr/>
        </p:nvPicPr>
        <p:blipFill>
          <a:blip r:embed="rId16"/>
          <a:stretch>
            <a:fillRect/>
          </a:stretch>
        </p:blipFill>
        <p:spPr>
          <a:xfrm>
            <a:off x="17063959" y="29435948"/>
            <a:ext cx="3164230" cy="3069775"/>
          </a:xfrm>
          <a:prstGeom prst="rect">
            <a:avLst/>
          </a:prstGeom>
        </p:spPr>
      </p:pic>
      <p:pic>
        <p:nvPicPr>
          <p:cNvPr id="75" name="Picture 74">
            <a:extLst>
              <a:ext uri="{FF2B5EF4-FFF2-40B4-BE49-F238E27FC236}">
                <a16:creationId xmlns:a16="http://schemas.microsoft.com/office/drawing/2014/main" id="{F9DEAF5C-5B2C-BADF-E3B6-E6479FC02910}"/>
              </a:ext>
            </a:extLst>
          </p:cNvPr>
          <p:cNvPicPr>
            <a:picLocks noChangeAspect="1"/>
          </p:cNvPicPr>
          <p:nvPr/>
        </p:nvPicPr>
        <p:blipFill>
          <a:blip r:embed="rId17"/>
          <a:stretch>
            <a:fillRect/>
          </a:stretch>
        </p:blipFill>
        <p:spPr>
          <a:xfrm>
            <a:off x="26804798" y="29917438"/>
            <a:ext cx="6080952" cy="1939201"/>
          </a:xfrm>
          <a:prstGeom prst="rect">
            <a:avLst/>
          </a:prstGeom>
        </p:spPr>
      </p:pic>
      <p:pic>
        <p:nvPicPr>
          <p:cNvPr id="76" name="Picture 75">
            <a:extLst>
              <a:ext uri="{FF2B5EF4-FFF2-40B4-BE49-F238E27FC236}">
                <a16:creationId xmlns:a16="http://schemas.microsoft.com/office/drawing/2014/main" id="{5F006588-4242-3567-7594-AF552F6CA436}"/>
              </a:ext>
            </a:extLst>
          </p:cNvPr>
          <p:cNvPicPr>
            <a:picLocks noChangeAspect="1"/>
          </p:cNvPicPr>
          <p:nvPr/>
        </p:nvPicPr>
        <p:blipFill>
          <a:blip r:embed="rId18"/>
          <a:stretch>
            <a:fillRect/>
          </a:stretch>
        </p:blipFill>
        <p:spPr>
          <a:xfrm>
            <a:off x="32652355" y="29917438"/>
            <a:ext cx="5066651" cy="1854290"/>
          </a:xfrm>
          <a:prstGeom prst="rect">
            <a:avLst/>
          </a:prstGeom>
        </p:spPr>
      </p:pic>
      <p:pic>
        <p:nvPicPr>
          <p:cNvPr id="78" name="Picture 77">
            <a:extLst>
              <a:ext uri="{FF2B5EF4-FFF2-40B4-BE49-F238E27FC236}">
                <a16:creationId xmlns:a16="http://schemas.microsoft.com/office/drawing/2014/main" id="{BE76AF39-346D-00FD-48B0-9AC3934312CD}"/>
              </a:ext>
            </a:extLst>
          </p:cNvPr>
          <p:cNvPicPr>
            <a:picLocks noChangeAspect="1"/>
          </p:cNvPicPr>
          <p:nvPr/>
        </p:nvPicPr>
        <p:blipFill>
          <a:blip r:embed="rId19"/>
          <a:stretch>
            <a:fillRect/>
          </a:stretch>
        </p:blipFill>
        <p:spPr>
          <a:xfrm>
            <a:off x="37523064" y="30272557"/>
            <a:ext cx="4772558" cy="1292568"/>
          </a:xfrm>
          <a:prstGeom prst="rect">
            <a:avLst/>
          </a:prstGeom>
        </p:spPr>
      </p:pic>
    </p:spTree>
    <p:extLst>
      <p:ext uri="{BB962C8B-B14F-4D97-AF65-F5344CB8AC3E}">
        <p14:creationId xmlns:p14="http://schemas.microsoft.com/office/powerpoint/2010/main" val="3081341592"/>
      </p:ext>
    </p:extLst>
  </p:cSld>
  <p:clrMapOvr>
    <a:masterClrMapping/>
  </p:clrMapOvr>
</p:sld>
</file>

<file path=ppt/theme/theme1.xml><?xml version="1.0" encoding="utf-8"?>
<a:theme xmlns:a="http://schemas.openxmlformats.org/drawingml/2006/main" name="Office Theme">
  <a:themeElements>
    <a:clrScheme name="Purdue Brand 1">
      <a:dk1>
        <a:srgbClr val="000000"/>
      </a:dk1>
      <a:lt1>
        <a:srgbClr val="FFFFFF"/>
      </a:lt1>
      <a:dk2>
        <a:srgbClr val="000000"/>
      </a:dk2>
      <a:lt2>
        <a:srgbClr val="FFFFFF"/>
      </a:lt2>
      <a:accent1>
        <a:srgbClr val="CFB991"/>
      </a:accent1>
      <a:accent2>
        <a:srgbClr val="8E6F3E"/>
      </a:accent2>
      <a:accent3>
        <a:srgbClr val="DAAA00"/>
      </a:accent3>
      <a:accent4>
        <a:srgbClr val="DDB945"/>
      </a:accent4>
      <a:accent5>
        <a:srgbClr val="EBD99F"/>
      </a:accent5>
      <a:accent6>
        <a:srgbClr val="6F717B"/>
      </a:accent6>
      <a:hlink>
        <a:srgbClr val="6F717B"/>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urdue Brand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Purdue Brand 1">
      <a:dk1>
        <a:srgbClr val="000000"/>
      </a:dk1>
      <a:lt1>
        <a:srgbClr val="FFFFFF"/>
      </a:lt1>
      <a:dk2>
        <a:srgbClr val="000000"/>
      </a:dk2>
      <a:lt2>
        <a:srgbClr val="FFFFFF"/>
      </a:lt2>
      <a:accent1>
        <a:srgbClr val="CFB991"/>
      </a:accent1>
      <a:accent2>
        <a:srgbClr val="8E6F3E"/>
      </a:accent2>
      <a:accent3>
        <a:srgbClr val="DAAA00"/>
      </a:accent3>
      <a:accent4>
        <a:srgbClr val="DDB945"/>
      </a:accent4>
      <a:accent5>
        <a:srgbClr val="EBD99F"/>
      </a:accent5>
      <a:accent6>
        <a:srgbClr val="6F717B"/>
      </a:accent6>
      <a:hlink>
        <a:srgbClr val="6F717B"/>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urdue Brand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694</Words>
  <Application>Microsoft Macintosh PowerPoint</Application>
  <DocSecurity>0</DocSecurity>
  <PresentationFormat>Custom</PresentationFormat>
  <Paragraphs>26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Calibri</vt:lpstr>
      <vt:lpstr>Franklin Gothic Demi Cond</vt:lpstr>
      <vt:lpstr>Franklin Gothic Heavy</vt:lpstr>
      <vt:lpstr>Franklin Gothic Medium</vt:lpstr>
      <vt:lpstr>Impact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Romit Maulik (Luna)</cp:lastModifiedBy>
  <cp:revision>14</cp:revision>
  <dcterms:created xsi:type="dcterms:W3CDTF">2026-10-14T16:35:49Z</dcterms:created>
  <dcterms:modified xsi:type="dcterms:W3CDTF">2026-10-18T04:35:32Z</dcterms:modified>
</cp:coreProperties>
</file>